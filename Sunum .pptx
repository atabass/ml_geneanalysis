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şlık Metni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Başlık Metni</a:t>
            </a:r>
          </a:p>
        </p:txBody>
      </p:sp>
      <p:sp>
        <p:nvSpPr>
          <p:cNvPr id="12" name="Gövde Düzeyi Bir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13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şlık Metni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Başlık Metni</a:t>
            </a:r>
          </a:p>
        </p:txBody>
      </p:sp>
      <p:sp>
        <p:nvSpPr>
          <p:cNvPr id="21" name="Gövde Düzeyi Bir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22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aşlık Metni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Başlık Metni</a:t>
            </a:r>
          </a:p>
        </p:txBody>
      </p:sp>
      <p:sp>
        <p:nvSpPr>
          <p:cNvPr id="30" name="Gövde Düzeyi Bir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31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aşlık Metni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Başlık Metni</a:t>
            </a:r>
          </a:p>
        </p:txBody>
      </p:sp>
      <p:sp>
        <p:nvSpPr>
          <p:cNvPr id="39" name="Gövde Düzeyi Bir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40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aşlık Metni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Başlık Metni</a:t>
            </a:r>
          </a:p>
        </p:txBody>
      </p:sp>
      <p:sp>
        <p:nvSpPr>
          <p:cNvPr id="48" name="Gövde Düzeyi Bir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aşlık Metni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Başlık Metni</a:t>
            </a:r>
          </a:p>
        </p:txBody>
      </p:sp>
      <p:sp>
        <p:nvSpPr>
          <p:cNvPr id="58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Başlık Metni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Başlık Metni</a:t>
            </a:r>
          </a:p>
        </p:txBody>
      </p:sp>
      <p:sp>
        <p:nvSpPr>
          <p:cNvPr id="73" name="Gövde Düzeyi Bir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aşlık Metni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Başlık Metni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Gövde Düzeyi Bir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85" name="Slayt Numarası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Metni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Başlık Metni</a:t>
            </a:r>
          </a:p>
        </p:txBody>
      </p:sp>
      <p:sp>
        <p:nvSpPr>
          <p:cNvPr id="3" name="Gövde Düzeyi Bir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Gövde Düzeyi Bir</a:t>
            </a:r>
          </a:p>
          <a:p>
            <a:pPr lvl="1"/>
            <a:r>
              <a:t>Gövde Düzeyi İki</a:t>
            </a:r>
          </a:p>
          <a:p>
            <a:pPr lvl="2"/>
            <a:r>
              <a:t>Gövde Düzeyi Üç</a:t>
            </a:r>
          </a:p>
          <a:p>
            <a:pPr lvl="3"/>
            <a:r>
              <a:t>Gövde Düzeyi Dört</a:t>
            </a:r>
          </a:p>
          <a:p>
            <a:pPr lvl="4"/>
            <a:r>
              <a:t>Gövde Düzeyi Beş</a:t>
            </a:r>
          </a:p>
        </p:txBody>
      </p:sp>
      <p:sp>
        <p:nvSpPr>
          <p:cNvPr id="4" name="Slayt Numarası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548639" y="2606039"/>
            <a:ext cx="11064242" cy="19051"/>
          </a:xfrm>
          <a:prstGeom prst="rect">
            <a:avLst/>
          </a:prstGeom>
          <a:solidFill>
            <a:srgbClr val="008BA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594359" y="1463039"/>
            <a:ext cx="1097280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GSE1456 Meme Kanseri Gen İfadesi Analizi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594359" y="2697479"/>
            <a:ext cx="1097280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600">
                <a:solidFill>
                  <a:srgbClr val="90BEDC"/>
                </a:solidFill>
              </a:defRPr>
            </a:lvl1pPr>
          </a:lstStyle>
          <a:p>
            <a:pPr/>
            <a:r>
              <a:t>Gen Analizleri ve Makine Öğrenmesi ile ER Durumu Sınıflandırması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594359" y="3520440"/>
            <a:ext cx="1097280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Ata Baş — 23011091          Yusuf Emir Altınkaynak — 22011057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594359" y="4069079"/>
            <a:ext cx="10972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709ABB"/>
                </a:solidFill>
              </a:defRPr>
            </a:lvl1pPr>
          </a:lstStyle>
          <a:p>
            <a:pPr/>
            <a:r>
              <a:t>BLM3810 Biyoenformatiğe Giriş  ·  Yıldız Teknik Üniversitesi  ·  Mayıs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Sunum Planı</a:t>
            </a:r>
          </a:p>
        </p:txBody>
      </p:sp>
      <p:sp>
        <p:nvSpPr>
          <p:cNvPr id="104" name="Rectangle 4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5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106" name="TextBox 6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7" name="Rectangle 7"/>
          <p:cNvSpPr/>
          <p:nvPr/>
        </p:nvSpPr>
        <p:spPr>
          <a:xfrm>
            <a:off x="1371599" y="1234439"/>
            <a:ext cx="5394962" cy="749809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Rectangle 8"/>
          <p:cNvSpPr/>
          <p:nvPr/>
        </p:nvSpPr>
        <p:spPr>
          <a:xfrm>
            <a:off x="1371600" y="1234439"/>
            <a:ext cx="64008" cy="749809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9"/>
          <p:cNvSpPr txBox="1"/>
          <p:nvPr/>
        </p:nvSpPr>
        <p:spPr>
          <a:xfrm>
            <a:off x="1600200" y="1371599"/>
            <a:ext cx="3657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0" name="TextBox 10"/>
          <p:cNvSpPr txBox="1"/>
          <p:nvPr/>
        </p:nvSpPr>
        <p:spPr>
          <a:xfrm>
            <a:off x="2103119" y="1417319"/>
            <a:ext cx="448056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Projenin Amacı</a:t>
            </a:r>
          </a:p>
        </p:txBody>
      </p:sp>
      <p:sp>
        <p:nvSpPr>
          <p:cNvPr id="111" name="Rectangle 11"/>
          <p:cNvSpPr/>
          <p:nvPr/>
        </p:nvSpPr>
        <p:spPr>
          <a:xfrm>
            <a:off x="1371599" y="2103120"/>
            <a:ext cx="5394962" cy="749809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Rectangle 12"/>
          <p:cNvSpPr/>
          <p:nvPr/>
        </p:nvSpPr>
        <p:spPr>
          <a:xfrm>
            <a:off x="1371600" y="2103120"/>
            <a:ext cx="64008" cy="749809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13"/>
          <p:cNvSpPr txBox="1"/>
          <p:nvPr/>
        </p:nvSpPr>
        <p:spPr>
          <a:xfrm>
            <a:off x="1600200" y="2240279"/>
            <a:ext cx="3657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4" name="TextBox 14"/>
          <p:cNvSpPr txBox="1"/>
          <p:nvPr/>
        </p:nvSpPr>
        <p:spPr>
          <a:xfrm>
            <a:off x="2103119" y="2285999"/>
            <a:ext cx="448056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Veri Seti — GSE1456</a:t>
            </a:r>
          </a:p>
        </p:txBody>
      </p:sp>
      <p:sp>
        <p:nvSpPr>
          <p:cNvPr id="115" name="Rectangle 15"/>
          <p:cNvSpPr/>
          <p:nvPr/>
        </p:nvSpPr>
        <p:spPr>
          <a:xfrm>
            <a:off x="1371599" y="2971799"/>
            <a:ext cx="5394962" cy="749810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Rectangle 16"/>
          <p:cNvSpPr/>
          <p:nvPr/>
        </p:nvSpPr>
        <p:spPr>
          <a:xfrm>
            <a:off x="1371600" y="2971799"/>
            <a:ext cx="64008" cy="749810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17"/>
          <p:cNvSpPr txBox="1"/>
          <p:nvPr/>
        </p:nvSpPr>
        <p:spPr>
          <a:xfrm>
            <a:off x="1600200" y="3108960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8" name="TextBox 18"/>
          <p:cNvSpPr txBox="1"/>
          <p:nvPr/>
        </p:nvSpPr>
        <p:spPr>
          <a:xfrm>
            <a:off x="2103119" y="3154679"/>
            <a:ext cx="4480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Veri Ön İşleme ve Normalizasyon</a:t>
            </a:r>
          </a:p>
        </p:txBody>
      </p:sp>
      <p:sp>
        <p:nvSpPr>
          <p:cNvPr id="119" name="Rectangle 19"/>
          <p:cNvSpPr/>
          <p:nvPr/>
        </p:nvSpPr>
        <p:spPr>
          <a:xfrm>
            <a:off x="1371599" y="3840479"/>
            <a:ext cx="5394962" cy="749809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20"/>
          <p:cNvSpPr/>
          <p:nvPr/>
        </p:nvSpPr>
        <p:spPr>
          <a:xfrm>
            <a:off x="1371600" y="3840479"/>
            <a:ext cx="64008" cy="749809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1"/>
          <p:cNvSpPr txBox="1"/>
          <p:nvPr/>
        </p:nvSpPr>
        <p:spPr>
          <a:xfrm>
            <a:off x="1600200" y="3977640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2" name="TextBox 22"/>
          <p:cNvSpPr txBox="1"/>
          <p:nvPr/>
        </p:nvSpPr>
        <p:spPr>
          <a:xfrm>
            <a:off x="2103119" y="4023359"/>
            <a:ext cx="4480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Diferansiyel Gen İfadesi (DGE)</a:t>
            </a:r>
          </a:p>
        </p:txBody>
      </p:sp>
      <p:sp>
        <p:nvSpPr>
          <p:cNvPr id="123" name="Rectangle 23"/>
          <p:cNvSpPr/>
          <p:nvPr/>
        </p:nvSpPr>
        <p:spPr>
          <a:xfrm>
            <a:off x="1371599" y="4709159"/>
            <a:ext cx="5394962" cy="749809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Rectangle 24"/>
          <p:cNvSpPr/>
          <p:nvPr/>
        </p:nvSpPr>
        <p:spPr>
          <a:xfrm>
            <a:off x="1371600" y="4709159"/>
            <a:ext cx="64008" cy="749809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25"/>
          <p:cNvSpPr txBox="1"/>
          <p:nvPr/>
        </p:nvSpPr>
        <p:spPr>
          <a:xfrm>
            <a:off x="1600200" y="4846320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6" name="TextBox 26"/>
          <p:cNvSpPr txBox="1"/>
          <p:nvPr/>
        </p:nvSpPr>
        <p:spPr>
          <a:xfrm>
            <a:off x="2103119" y="4892040"/>
            <a:ext cx="4480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Survival Analizi ve Cox Regresyonu</a:t>
            </a:r>
          </a:p>
        </p:txBody>
      </p:sp>
      <p:sp>
        <p:nvSpPr>
          <p:cNvPr id="127" name="Rectangle 27"/>
          <p:cNvSpPr/>
          <p:nvPr/>
        </p:nvSpPr>
        <p:spPr>
          <a:xfrm>
            <a:off x="7315199" y="1234439"/>
            <a:ext cx="5394962" cy="749809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Rectangle 28"/>
          <p:cNvSpPr/>
          <p:nvPr/>
        </p:nvSpPr>
        <p:spPr>
          <a:xfrm>
            <a:off x="7315200" y="1234439"/>
            <a:ext cx="64008" cy="749809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29"/>
          <p:cNvSpPr txBox="1"/>
          <p:nvPr/>
        </p:nvSpPr>
        <p:spPr>
          <a:xfrm>
            <a:off x="7543800" y="1371599"/>
            <a:ext cx="3657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0" name="TextBox 30"/>
          <p:cNvSpPr txBox="1"/>
          <p:nvPr/>
        </p:nvSpPr>
        <p:spPr>
          <a:xfrm>
            <a:off x="8046719" y="1417319"/>
            <a:ext cx="448056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WGCNA — Gen Co-expression Ağları</a:t>
            </a:r>
          </a:p>
        </p:txBody>
      </p:sp>
      <p:sp>
        <p:nvSpPr>
          <p:cNvPr id="131" name="Rectangle 31"/>
          <p:cNvSpPr/>
          <p:nvPr/>
        </p:nvSpPr>
        <p:spPr>
          <a:xfrm>
            <a:off x="7315199" y="2103120"/>
            <a:ext cx="5394962" cy="749809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ectangle 32"/>
          <p:cNvSpPr/>
          <p:nvPr/>
        </p:nvSpPr>
        <p:spPr>
          <a:xfrm>
            <a:off x="7315200" y="2103120"/>
            <a:ext cx="64008" cy="749809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33"/>
          <p:cNvSpPr txBox="1"/>
          <p:nvPr/>
        </p:nvSpPr>
        <p:spPr>
          <a:xfrm>
            <a:off x="7543800" y="2240279"/>
            <a:ext cx="3657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4" name="TextBox 34"/>
          <p:cNvSpPr txBox="1"/>
          <p:nvPr/>
        </p:nvSpPr>
        <p:spPr>
          <a:xfrm>
            <a:off x="8046719" y="2285999"/>
            <a:ext cx="448056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GO Enrichment Analizi</a:t>
            </a:r>
          </a:p>
        </p:txBody>
      </p:sp>
      <p:sp>
        <p:nvSpPr>
          <p:cNvPr id="135" name="Rectangle 35"/>
          <p:cNvSpPr/>
          <p:nvPr/>
        </p:nvSpPr>
        <p:spPr>
          <a:xfrm>
            <a:off x="7315199" y="2971799"/>
            <a:ext cx="5394962" cy="749810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36"/>
          <p:cNvSpPr/>
          <p:nvPr/>
        </p:nvSpPr>
        <p:spPr>
          <a:xfrm>
            <a:off x="7315200" y="2971799"/>
            <a:ext cx="64008" cy="749810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37"/>
          <p:cNvSpPr txBox="1"/>
          <p:nvPr/>
        </p:nvSpPr>
        <p:spPr>
          <a:xfrm>
            <a:off x="7543800" y="3108960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38" name="TextBox 38"/>
          <p:cNvSpPr txBox="1"/>
          <p:nvPr/>
        </p:nvSpPr>
        <p:spPr>
          <a:xfrm>
            <a:off x="8046719" y="3154679"/>
            <a:ext cx="4480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Makine Öğrenmesi ile Sınıflandırma</a:t>
            </a:r>
          </a:p>
        </p:txBody>
      </p:sp>
      <p:sp>
        <p:nvSpPr>
          <p:cNvPr id="139" name="Rectangle 39"/>
          <p:cNvSpPr/>
          <p:nvPr/>
        </p:nvSpPr>
        <p:spPr>
          <a:xfrm>
            <a:off x="7315199" y="3840479"/>
            <a:ext cx="5394962" cy="749809"/>
          </a:xfrm>
          <a:prstGeom prst="rect">
            <a:avLst/>
          </a:prstGeom>
          <a:solidFill>
            <a:srgbClr val="F6F8FB"/>
          </a:solidFill>
          <a:ln w="762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Rectangle 40"/>
          <p:cNvSpPr/>
          <p:nvPr/>
        </p:nvSpPr>
        <p:spPr>
          <a:xfrm>
            <a:off x="7315200" y="3840479"/>
            <a:ext cx="64008" cy="749809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41"/>
          <p:cNvSpPr txBox="1"/>
          <p:nvPr/>
        </p:nvSpPr>
        <p:spPr>
          <a:xfrm>
            <a:off x="7543800" y="3977640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A6EB0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42" name="TextBox 42"/>
          <p:cNvSpPr txBox="1"/>
          <p:nvPr/>
        </p:nvSpPr>
        <p:spPr>
          <a:xfrm>
            <a:off x="8046719" y="4023359"/>
            <a:ext cx="4480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1C2833"/>
                </a:solidFill>
              </a:defRPr>
            </a:lvl1pPr>
          </a:lstStyle>
          <a:p>
            <a:pPr/>
            <a:r>
              <a:t>Sonuçlar ve Tartışma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Projenin Amacı</a:t>
            </a:r>
          </a:p>
        </p:txBody>
      </p:sp>
      <p:sp>
        <p:nvSpPr>
          <p:cNvPr id="147" name="Rectangle 4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5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149" name="TextBox 6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0" name="Rectangle 7"/>
          <p:cNvSpPr/>
          <p:nvPr/>
        </p:nvSpPr>
        <p:spPr>
          <a:xfrm>
            <a:off x="457199" y="1143000"/>
            <a:ext cx="11247122" cy="685800"/>
          </a:xfrm>
          <a:prstGeom prst="rect">
            <a:avLst/>
          </a:prstGeom>
          <a:solidFill>
            <a:srgbClr val="F6F8FB"/>
          </a:solidFill>
          <a:ln w="12700">
            <a:solidFill>
              <a:srgbClr val="2A6EB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Rectangle 8"/>
          <p:cNvSpPr/>
          <p:nvPr/>
        </p:nvSpPr>
        <p:spPr>
          <a:xfrm>
            <a:off x="457200" y="1143000"/>
            <a:ext cx="64008" cy="685800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9"/>
          <p:cNvSpPr txBox="1"/>
          <p:nvPr/>
        </p:nvSpPr>
        <p:spPr>
          <a:xfrm>
            <a:off x="731520" y="1234439"/>
            <a:ext cx="10789920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1" sz="1500">
                <a:solidFill>
                  <a:srgbClr val="1C2833"/>
                </a:solidFill>
              </a:defRPr>
            </a:lvl1pPr>
          </a:lstStyle>
          <a:p>
            <a:pPr/>
            <a:r>
              <a:t>"Sadece gen aktivite ölçümlerine bakarak tümörün ER+ mi ER− mi olduğunu tahmin edebilir miyiz?"</a:t>
            </a:r>
          </a:p>
        </p:txBody>
      </p:sp>
      <p:sp>
        <p:nvSpPr>
          <p:cNvPr id="153" name="TextBox 10"/>
          <p:cNvSpPr txBox="1"/>
          <p:nvPr/>
        </p:nvSpPr>
        <p:spPr>
          <a:xfrm>
            <a:off x="502919" y="2011679"/>
            <a:ext cx="530352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A385C"/>
                </a:solidFill>
              </a:defRPr>
            </a:lvl1pPr>
          </a:lstStyle>
          <a:p>
            <a:pPr/>
            <a:r>
              <a:t>Östrojen Reseptörü (ER) Nedir?</a:t>
            </a:r>
          </a:p>
        </p:txBody>
      </p:sp>
      <p:sp>
        <p:nvSpPr>
          <p:cNvPr id="154" name="Rectangle 11"/>
          <p:cNvSpPr/>
          <p:nvPr/>
        </p:nvSpPr>
        <p:spPr>
          <a:xfrm>
            <a:off x="457200" y="2359151"/>
            <a:ext cx="25400" cy="1005840"/>
          </a:xfrm>
          <a:prstGeom prst="rect">
            <a:avLst/>
          </a:prstGeom>
          <a:solidFill>
            <a:srgbClr val="1A7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2"/>
          <p:cNvSpPr txBox="1"/>
          <p:nvPr/>
        </p:nvSpPr>
        <p:spPr>
          <a:xfrm>
            <a:off x="685800" y="2377439"/>
            <a:ext cx="5120640" cy="86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ER+ (pozitif):  hormon tedavisine iyi yanıt verir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ER− (negatif):  farklı tedavi, genellikle daha agresif seyir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ER durumu → tedavi kararı ve prognoz üzerinde doğrudan etkili</a:t>
            </a:r>
          </a:p>
        </p:txBody>
      </p:sp>
      <p:sp>
        <p:nvSpPr>
          <p:cNvPr id="156" name="Rectangle 13"/>
          <p:cNvSpPr/>
          <p:nvPr/>
        </p:nvSpPr>
        <p:spPr>
          <a:xfrm>
            <a:off x="457199" y="3429000"/>
            <a:ext cx="5394962" cy="12700"/>
          </a:xfrm>
          <a:prstGeom prst="rect">
            <a:avLst/>
          </a:prstGeom>
          <a:solidFill>
            <a:srgbClr val="E8EC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14"/>
          <p:cNvSpPr txBox="1"/>
          <p:nvPr/>
        </p:nvSpPr>
        <p:spPr>
          <a:xfrm>
            <a:off x="502919" y="3611879"/>
            <a:ext cx="530352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A385C"/>
                </a:solidFill>
              </a:defRPr>
            </a:lvl1pPr>
          </a:lstStyle>
          <a:p>
            <a:pPr/>
            <a:r>
              <a:t>Proje Hedefleri</a:t>
            </a:r>
          </a:p>
        </p:txBody>
      </p:sp>
      <p:sp>
        <p:nvSpPr>
          <p:cNvPr id="158" name="TextBox 15"/>
          <p:cNvSpPr txBox="1"/>
          <p:nvPr/>
        </p:nvSpPr>
        <p:spPr>
          <a:xfrm>
            <a:off x="685800" y="4041647"/>
            <a:ext cx="5120640" cy="1157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→  Ham CEL verisini normalize edip gen sembollerine çevirmek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→  DGE, survival, WGCNA ve GO analizleri uygulamak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→  ML ile ER durumunu %89+ doğrulukla sınıflandırmak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→  Farklı özellik seçim stratejilerini karşılaştırmak</a:t>
            </a:r>
          </a:p>
        </p:txBody>
      </p:sp>
      <p:sp>
        <p:nvSpPr>
          <p:cNvPr id="159" name="TextBox 16"/>
          <p:cNvSpPr txBox="1"/>
          <p:nvPr/>
        </p:nvSpPr>
        <p:spPr>
          <a:xfrm>
            <a:off x="6537960" y="2011679"/>
            <a:ext cx="512064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A385C"/>
                </a:solidFill>
              </a:defRPr>
            </a:lvl1pPr>
          </a:lstStyle>
          <a:p>
            <a:pPr/>
            <a:r>
              <a:t>Analiz Akışı</a:t>
            </a:r>
          </a:p>
        </p:txBody>
      </p:sp>
      <p:sp>
        <p:nvSpPr>
          <p:cNvPr id="160" name="Rectangle 17"/>
          <p:cNvSpPr/>
          <p:nvPr/>
        </p:nvSpPr>
        <p:spPr>
          <a:xfrm>
            <a:off x="6492240" y="2359151"/>
            <a:ext cx="5212081" cy="685801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Rectangle 18"/>
          <p:cNvSpPr/>
          <p:nvPr/>
        </p:nvSpPr>
        <p:spPr>
          <a:xfrm>
            <a:off x="6492240" y="2359151"/>
            <a:ext cx="64009" cy="68580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19"/>
          <p:cNvSpPr txBox="1"/>
          <p:nvPr/>
        </p:nvSpPr>
        <p:spPr>
          <a:xfrm>
            <a:off x="6720839" y="2395727"/>
            <a:ext cx="3108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C2833"/>
                </a:solidFill>
              </a:defRPr>
            </a:lvl1pPr>
          </a:lstStyle>
          <a:p>
            <a:pPr/>
            <a:r>
              <a:t>Veri Ön İşleme</a:t>
            </a:r>
          </a:p>
        </p:txBody>
      </p:sp>
      <p:sp>
        <p:nvSpPr>
          <p:cNvPr id="163" name="TextBox 20"/>
          <p:cNvSpPr txBox="1"/>
          <p:nvPr/>
        </p:nvSpPr>
        <p:spPr>
          <a:xfrm>
            <a:off x="10012679" y="2523744"/>
            <a:ext cx="155448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i="1" sz="1200">
                <a:solidFill>
                  <a:srgbClr val="2A6EB0"/>
                </a:solidFill>
              </a:defRPr>
            </a:lvl1pPr>
          </a:lstStyle>
          <a:p>
            <a:pPr/>
            <a:r>
              <a:t>CEL → RMA → HVG-3000</a:t>
            </a:r>
          </a:p>
        </p:txBody>
      </p:sp>
      <p:sp>
        <p:nvSpPr>
          <p:cNvPr id="164" name="TextBox 21"/>
          <p:cNvSpPr txBox="1"/>
          <p:nvPr/>
        </p:nvSpPr>
        <p:spPr>
          <a:xfrm>
            <a:off x="9006839" y="3026664"/>
            <a:ext cx="2743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555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65" name="Rectangle 22"/>
          <p:cNvSpPr/>
          <p:nvPr/>
        </p:nvSpPr>
        <p:spPr>
          <a:xfrm>
            <a:off x="6492240" y="3118104"/>
            <a:ext cx="5212081" cy="685801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ectangle 23"/>
          <p:cNvSpPr/>
          <p:nvPr/>
        </p:nvSpPr>
        <p:spPr>
          <a:xfrm>
            <a:off x="6492240" y="3118104"/>
            <a:ext cx="64009" cy="68580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4"/>
          <p:cNvSpPr txBox="1"/>
          <p:nvPr/>
        </p:nvSpPr>
        <p:spPr>
          <a:xfrm>
            <a:off x="6720839" y="3154679"/>
            <a:ext cx="3108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C2833"/>
                </a:solidFill>
              </a:defRPr>
            </a:lvl1pPr>
          </a:lstStyle>
          <a:p>
            <a:pPr/>
            <a:r>
              <a:t>DGE Analizi</a:t>
            </a:r>
          </a:p>
        </p:txBody>
      </p:sp>
      <p:sp>
        <p:nvSpPr>
          <p:cNvPr id="168" name="TextBox 25"/>
          <p:cNvSpPr txBox="1"/>
          <p:nvPr/>
        </p:nvSpPr>
        <p:spPr>
          <a:xfrm>
            <a:off x="10012679" y="3282696"/>
            <a:ext cx="1554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i="1" sz="1200">
                <a:solidFill>
                  <a:srgbClr val="2A6EB0"/>
                </a:solidFill>
              </a:defRPr>
            </a:lvl1pPr>
          </a:lstStyle>
          <a:p>
            <a:pPr/>
            <a:r>
              <a:t>46 anlamlı gen</a:t>
            </a:r>
          </a:p>
        </p:txBody>
      </p:sp>
      <p:sp>
        <p:nvSpPr>
          <p:cNvPr id="169" name="TextBox 26"/>
          <p:cNvSpPr txBox="1"/>
          <p:nvPr/>
        </p:nvSpPr>
        <p:spPr>
          <a:xfrm>
            <a:off x="9006839" y="3785615"/>
            <a:ext cx="274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555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70" name="Rectangle 27"/>
          <p:cNvSpPr/>
          <p:nvPr/>
        </p:nvSpPr>
        <p:spPr>
          <a:xfrm>
            <a:off x="6492240" y="3877055"/>
            <a:ext cx="5212081" cy="685801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Rectangle 28"/>
          <p:cNvSpPr/>
          <p:nvPr/>
        </p:nvSpPr>
        <p:spPr>
          <a:xfrm>
            <a:off x="6492240" y="3877055"/>
            <a:ext cx="64009" cy="68580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29"/>
          <p:cNvSpPr txBox="1"/>
          <p:nvPr/>
        </p:nvSpPr>
        <p:spPr>
          <a:xfrm>
            <a:off x="6720839" y="3913632"/>
            <a:ext cx="31089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C2833"/>
                </a:solidFill>
              </a:defRPr>
            </a:lvl1pPr>
          </a:lstStyle>
          <a:p>
            <a:pPr/>
            <a:r>
              <a:t>Survival &amp; Cox</a:t>
            </a:r>
          </a:p>
        </p:txBody>
      </p:sp>
      <p:sp>
        <p:nvSpPr>
          <p:cNvPr id="173" name="TextBox 30"/>
          <p:cNvSpPr txBox="1"/>
          <p:nvPr/>
        </p:nvSpPr>
        <p:spPr>
          <a:xfrm>
            <a:off x="10012679" y="4041647"/>
            <a:ext cx="15544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i="1" sz="1200">
                <a:solidFill>
                  <a:srgbClr val="2A6EB0"/>
                </a:solidFill>
              </a:defRPr>
            </a:lvl1pPr>
          </a:lstStyle>
          <a:p>
            <a:pPr/>
            <a:r>
              <a:t>S100A9: HR = 2,33</a:t>
            </a:r>
          </a:p>
        </p:txBody>
      </p:sp>
      <p:sp>
        <p:nvSpPr>
          <p:cNvPr id="174" name="TextBox 31"/>
          <p:cNvSpPr txBox="1"/>
          <p:nvPr/>
        </p:nvSpPr>
        <p:spPr>
          <a:xfrm>
            <a:off x="9006839" y="4544567"/>
            <a:ext cx="274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555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75" name="Rectangle 32"/>
          <p:cNvSpPr/>
          <p:nvPr/>
        </p:nvSpPr>
        <p:spPr>
          <a:xfrm>
            <a:off x="6492240" y="4636008"/>
            <a:ext cx="5212081" cy="685801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33"/>
          <p:cNvSpPr/>
          <p:nvPr/>
        </p:nvSpPr>
        <p:spPr>
          <a:xfrm>
            <a:off x="6492240" y="4636008"/>
            <a:ext cx="64009" cy="68580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34"/>
          <p:cNvSpPr txBox="1"/>
          <p:nvPr/>
        </p:nvSpPr>
        <p:spPr>
          <a:xfrm>
            <a:off x="6720839" y="4672584"/>
            <a:ext cx="3108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C2833"/>
                </a:solidFill>
              </a:defRPr>
            </a:lvl1pPr>
          </a:lstStyle>
          <a:p>
            <a:pPr/>
            <a:r>
              <a:t>WGCNA &amp; GO</a:t>
            </a:r>
          </a:p>
        </p:txBody>
      </p:sp>
      <p:sp>
        <p:nvSpPr>
          <p:cNvPr id="178" name="TextBox 35"/>
          <p:cNvSpPr txBox="1"/>
          <p:nvPr/>
        </p:nvSpPr>
        <p:spPr>
          <a:xfrm>
            <a:off x="10012679" y="4800599"/>
            <a:ext cx="15544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i="1" sz="1200">
                <a:solidFill>
                  <a:srgbClr val="2A6EB0"/>
                </a:solidFill>
              </a:defRPr>
            </a:lvl1pPr>
          </a:lstStyle>
          <a:p>
            <a:pPr/>
            <a:r>
              <a:t>17 modül, red modülü</a:t>
            </a:r>
          </a:p>
        </p:txBody>
      </p:sp>
      <p:sp>
        <p:nvSpPr>
          <p:cNvPr id="179" name="TextBox 36"/>
          <p:cNvSpPr txBox="1"/>
          <p:nvPr/>
        </p:nvSpPr>
        <p:spPr>
          <a:xfrm>
            <a:off x="9006839" y="5303520"/>
            <a:ext cx="27432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555555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180" name="Rectangle 37"/>
          <p:cNvSpPr/>
          <p:nvPr/>
        </p:nvSpPr>
        <p:spPr>
          <a:xfrm>
            <a:off x="6492240" y="5394959"/>
            <a:ext cx="5212081" cy="685801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Rectangle 38"/>
          <p:cNvSpPr/>
          <p:nvPr/>
        </p:nvSpPr>
        <p:spPr>
          <a:xfrm>
            <a:off x="6492240" y="5394959"/>
            <a:ext cx="64009" cy="68580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39"/>
          <p:cNvSpPr txBox="1"/>
          <p:nvPr/>
        </p:nvSpPr>
        <p:spPr>
          <a:xfrm>
            <a:off x="6720839" y="5431535"/>
            <a:ext cx="3108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C2833"/>
                </a:solidFill>
              </a:defRPr>
            </a:lvl1pPr>
          </a:lstStyle>
          <a:p>
            <a:pPr/>
            <a:r>
              <a:t>Makine Öğrenmesi</a:t>
            </a:r>
          </a:p>
        </p:txBody>
      </p:sp>
      <p:sp>
        <p:nvSpPr>
          <p:cNvPr id="183" name="TextBox 40"/>
          <p:cNvSpPr txBox="1"/>
          <p:nvPr/>
        </p:nvSpPr>
        <p:spPr>
          <a:xfrm>
            <a:off x="10012679" y="5559552"/>
            <a:ext cx="15544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i="1" sz="1200">
                <a:solidFill>
                  <a:srgbClr val="2A6EB0"/>
                </a:solidFill>
              </a:defRPr>
            </a:lvl1pPr>
          </a:lstStyle>
          <a:p>
            <a:pPr/>
            <a:r>
              <a:t>%89,3 doğruluk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Veri Seti — GSE1456</a:t>
            </a:r>
          </a:p>
        </p:txBody>
      </p:sp>
      <p:sp>
        <p:nvSpPr>
          <p:cNvPr id="188" name="TextBox 4"/>
          <p:cNvSpPr txBox="1"/>
          <p:nvPr/>
        </p:nvSpPr>
        <p:spPr>
          <a:xfrm>
            <a:off x="411479" y="685799"/>
            <a:ext cx="11338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A0C4E0"/>
                </a:solidFill>
              </a:defRPr>
            </a:lvl1pPr>
          </a:lstStyle>
          <a:p>
            <a:pPr/>
            <a:r>
              <a:t>NCBI Gene Expression Omnibus</a:t>
            </a:r>
          </a:p>
        </p:txBody>
      </p:sp>
      <p:sp>
        <p:nvSpPr>
          <p:cNvPr id="189" name="Rectangle 5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6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191" name="TextBox 7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2" name="Rectangle 8"/>
          <p:cNvSpPr/>
          <p:nvPr/>
        </p:nvSpPr>
        <p:spPr>
          <a:xfrm>
            <a:off x="365759" y="1097280"/>
            <a:ext cx="6217922" cy="493777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9"/>
          <p:cNvSpPr txBox="1"/>
          <p:nvPr/>
        </p:nvSpPr>
        <p:spPr>
          <a:xfrm>
            <a:off x="548640" y="1160780"/>
            <a:ext cx="192023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GEO Accession</a:t>
            </a:r>
          </a:p>
        </p:txBody>
      </p:sp>
      <p:sp>
        <p:nvSpPr>
          <p:cNvPr id="194" name="TextBox 10"/>
          <p:cNvSpPr txBox="1"/>
          <p:nvPr/>
        </p:nvSpPr>
        <p:spPr>
          <a:xfrm>
            <a:off x="2651759" y="1160780"/>
            <a:ext cx="37490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GSE1456</a:t>
            </a:r>
          </a:p>
        </p:txBody>
      </p:sp>
      <p:sp>
        <p:nvSpPr>
          <p:cNvPr id="195" name="Rectangle 11"/>
          <p:cNvSpPr/>
          <p:nvPr/>
        </p:nvSpPr>
        <p:spPr>
          <a:xfrm>
            <a:off x="365759" y="1591055"/>
            <a:ext cx="6217922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12"/>
          <p:cNvSpPr txBox="1"/>
          <p:nvPr/>
        </p:nvSpPr>
        <p:spPr>
          <a:xfrm>
            <a:off x="548640" y="1654555"/>
            <a:ext cx="19202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Hastalık</a:t>
            </a:r>
          </a:p>
        </p:txBody>
      </p:sp>
      <p:sp>
        <p:nvSpPr>
          <p:cNvPr id="197" name="TextBox 13"/>
          <p:cNvSpPr txBox="1"/>
          <p:nvPr/>
        </p:nvSpPr>
        <p:spPr>
          <a:xfrm>
            <a:off x="2651759" y="1654555"/>
            <a:ext cx="3749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Meme kanseri — invaziv tümör dokusu</a:t>
            </a:r>
          </a:p>
        </p:txBody>
      </p:sp>
      <p:sp>
        <p:nvSpPr>
          <p:cNvPr id="198" name="Rectangle 14"/>
          <p:cNvSpPr/>
          <p:nvPr/>
        </p:nvSpPr>
        <p:spPr>
          <a:xfrm>
            <a:off x="365759" y="2084832"/>
            <a:ext cx="6217922" cy="493777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15"/>
          <p:cNvSpPr txBox="1"/>
          <p:nvPr/>
        </p:nvSpPr>
        <p:spPr>
          <a:xfrm>
            <a:off x="548640" y="2148332"/>
            <a:ext cx="192023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Platform</a:t>
            </a:r>
          </a:p>
        </p:txBody>
      </p:sp>
      <p:sp>
        <p:nvSpPr>
          <p:cNvPr id="200" name="TextBox 16"/>
          <p:cNvSpPr txBox="1"/>
          <p:nvPr/>
        </p:nvSpPr>
        <p:spPr>
          <a:xfrm>
            <a:off x="2651759" y="2148332"/>
            <a:ext cx="37490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Affymetrix HG-U133A (GPL96) — Mikroçip</a:t>
            </a:r>
          </a:p>
        </p:txBody>
      </p:sp>
      <p:sp>
        <p:nvSpPr>
          <p:cNvPr id="201" name="Rectangle 17"/>
          <p:cNvSpPr/>
          <p:nvPr/>
        </p:nvSpPr>
        <p:spPr>
          <a:xfrm>
            <a:off x="365759" y="2578607"/>
            <a:ext cx="6217922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18"/>
          <p:cNvSpPr txBox="1"/>
          <p:nvPr/>
        </p:nvSpPr>
        <p:spPr>
          <a:xfrm>
            <a:off x="548640" y="2642107"/>
            <a:ext cx="19202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Kohort</a:t>
            </a:r>
          </a:p>
        </p:txBody>
      </p:sp>
      <p:sp>
        <p:nvSpPr>
          <p:cNvPr id="203" name="TextBox 19"/>
          <p:cNvSpPr txBox="1"/>
          <p:nvPr/>
        </p:nvSpPr>
        <p:spPr>
          <a:xfrm>
            <a:off x="2651759" y="2642107"/>
            <a:ext cx="3749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Karolinska Hastanesi, İsveç, 1994–1996</a:t>
            </a:r>
          </a:p>
        </p:txBody>
      </p:sp>
      <p:sp>
        <p:nvSpPr>
          <p:cNvPr id="204" name="Rectangle 20"/>
          <p:cNvSpPr/>
          <p:nvPr/>
        </p:nvSpPr>
        <p:spPr>
          <a:xfrm>
            <a:off x="365759" y="3072383"/>
            <a:ext cx="6217922" cy="493777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21"/>
          <p:cNvSpPr txBox="1"/>
          <p:nvPr/>
        </p:nvSpPr>
        <p:spPr>
          <a:xfrm>
            <a:off x="548640" y="3135883"/>
            <a:ext cx="19202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Ham format</a:t>
            </a:r>
          </a:p>
        </p:txBody>
      </p:sp>
      <p:sp>
        <p:nvSpPr>
          <p:cNvPr id="206" name="TextBox 22"/>
          <p:cNvSpPr txBox="1"/>
          <p:nvPr/>
        </p:nvSpPr>
        <p:spPr>
          <a:xfrm>
            <a:off x="2651759" y="3135883"/>
            <a:ext cx="3749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CEL dosyaları (optik yoğunluk ölçümleri)</a:t>
            </a:r>
          </a:p>
        </p:txBody>
      </p:sp>
      <p:sp>
        <p:nvSpPr>
          <p:cNvPr id="207" name="Rectangle 23"/>
          <p:cNvSpPr/>
          <p:nvPr/>
        </p:nvSpPr>
        <p:spPr>
          <a:xfrm>
            <a:off x="365759" y="3566159"/>
            <a:ext cx="6217922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24"/>
          <p:cNvSpPr txBox="1"/>
          <p:nvPr/>
        </p:nvSpPr>
        <p:spPr>
          <a:xfrm>
            <a:off x="548640" y="3629659"/>
            <a:ext cx="19202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Toplam örnek</a:t>
            </a:r>
          </a:p>
        </p:txBody>
      </p:sp>
      <p:sp>
        <p:nvSpPr>
          <p:cNvPr id="209" name="TextBox 25"/>
          <p:cNvSpPr txBox="1"/>
          <p:nvPr/>
        </p:nvSpPr>
        <p:spPr>
          <a:xfrm>
            <a:off x="2651759" y="3629659"/>
            <a:ext cx="3749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159 tümör</a:t>
            </a:r>
          </a:p>
        </p:txBody>
      </p:sp>
      <p:sp>
        <p:nvSpPr>
          <p:cNvPr id="210" name="Rectangle 26"/>
          <p:cNvSpPr/>
          <p:nvPr/>
        </p:nvSpPr>
        <p:spPr>
          <a:xfrm>
            <a:off x="365759" y="4059935"/>
            <a:ext cx="6217922" cy="493777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27"/>
          <p:cNvSpPr txBox="1"/>
          <p:nvPr/>
        </p:nvSpPr>
        <p:spPr>
          <a:xfrm>
            <a:off x="548640" y="4123435"/>
            <a:ext cx="19202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ER+ (pozitif)</a:t>
            </a:r>
          </a:p>
        </p:txBody>
      </p:sp>
      <p:sp>
        <p:nvSpPr>
          <p:cNvPr id="212" name="TextBox 28"/>
          <p:cNvSpPr txBox="1"/>
          <p:nvPr/>
        </p:nvSpPr>
        <p:spPr>
          <a:xfrm>
            <a:off x="2651759" y="4123435"/>
            <a:ext cx="3749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92 hasta  —  %57,9</a:t>
            </a:r>
          </a:p>
        </p:txBody>
      </p:sp>
      <p:sp>
        <p:nvSpPr>
          <p:cNvPr id="213" name="Rectangle 29"/>
          <p:cNvSpPr/>
          <p:nvPr/>
        </p:nvSpPr>
        <p:spPr>
          <a:xfrm>
            <a:off x="365759" y="4553711"/>
            <a:ext cx="6217922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30"/>
          <p:cNvSpPr txBox="1"/>
          <p:nvPr/>
        </p:nvSpPr>
        <p:spPr>
          <a:xfrm>
            <a:off x="548640" y="4617211"/>
            <a:ext cx="192023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ER− (negatif)</a:t>
            </a:r>
          </a:p>
        </p:txBody>
      </p:sp>
      <p:sp>
        <p:nvSpPr>
          <p:cNvPr id="215" name="TextBox 31"/>
          <p:cNvSpPr txBox="1"/>
          <p:nvPr/>
        </p:nvSpPr>
        <p:spPr>
          <a:xfrm>
            <a:off x="2651759" y="4617211"/>
            <a:ext cx="3749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67 hasta  —  %42,1</a:t>
            </a:r>
          </a:p>
        </p:txBody>
      </p:sp>
      <p:sp>
        <p:nvSpPr>
          <p:cNvPr id="216" name="Rectangle 32"/>
          <p:cNvSpPr/>
          <p:nvPr/>
        </p:nvSpPr>
        <p:spPr>
          <a:xfrm>
            <a:off x="365759" y="5047488"/>
            <a:ext cx="6217922" cy="493777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33"/>
          <p:cNvSpPr txBox="1"/>
          <p:nvPr/>
        </p:nvSpPr>
        <p:spPr>
          <a:xfrm>
            <a:off x="548640" y="5110988"/>
            <a:ext cx="1920239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385C"/>
                </a:solidFill>
              </a:defRPr>
            </a:lvl1pPr>
          </a:lstStyle>
          <a:p>
            <a:pPr/>
            <a:r>
              <a:t>Survival bilgi</a:t>
            </a:r>
          </a:p>
        </p:txBody>
      </p:sp>
      <p:sp>
        <p:nvSpPr>
          <p:cNvPr id="218" name="TextBox 34"/>
          <p:cNvSpPr txBox="1"/>
          <p:nvPr/>
        </p:nvSpPr>
        <p:spPr>
          <a:xfrm>
            <a:off x="2651759" y="5110988"/>
            <a:ext cx="37490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C2833"/>
                </a:solidFill>
              </a:defRPr>
            </a:lvl1pPr>
          </a:lstStyle>
          <a:p>
            <a:pPr/>
            <a:r>
              <a:t>Relapse-free: süre (yıl) + olay (nüks)</a:t>
            </a:r>
          </a:p>
        </p:txBody>
      </p:sp>
      <p:sp>
        <p:nvSpPr>
          <p:cNvPr id="219" name="TextBox 35"/>
          <p:cNvSpPr txBox="1"/>
          <p:nvPr/>
        </p:nvSpPr>
        <p:spPr>
          <a:xfrm>
            <a:off x="6995160" y="1097280"/>
            <a:ext cx="48463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A385C"/>
                </a:solidFill>
              </a:defRPr>
            </a:lvl1pPr>
          </a:lstStyle>
          <a:p>
            <a:pPr/>
            <a:r>
              <a:t>ER Etiket Stratejisi</a:t>
            </a:r>
          </a:p>
        </p:txBody>
      </p:sp>
      <p:sp>
        <p:nvSpPr>
          <p:cNvPr id="220" name="Rectangle 36"/>
          <p:cNvSpPr/>
          <p:nvPr/>
        </p:nvSpPr>
        <p:spPr>
          <a:xfrm>
            <a:off x="6949440" y="1444752"/>
            <a:ext cx="4937761" cy="1270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37"/>
          <p:cNvSpPr txBox="1"/>
          <p:nvPr/>
        </p:nvSpPr>
        <p:spPr>
          <a:xfrm>
            <a:off x="7086600" y="1536191"/>
            <a:ext cx="4663441" cy="212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1.  Molecular subtype alanı: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      Luminal A/B → ER+,  Basal/ERBB2 → ER−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2.  Belirsiz örnekler: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      ESR1 gen ifadesi medyan eşiğiyle atandı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Doğruluk kontrolü: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      ESR1, DGE'de ER+'nin en yüksek geni →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      etiketleme biyoloji ile uyumlu</a:t>
            </a:r>
          </a:p>
        </p:txBody>
      </p:sp>
      <p:sp>
        <p:nvSpPr>
          <p:cNvPr id="222" name="TextBox 38"/>
          <p:cNvSpPr txBox="1"/>
          <p:nvPr/>
        </p:nvSpPr>
        <p:spPr>
          <a:xfrm>
            <a:off x="6995160" y="4251959"/>
            <a:ext cx="484632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1A385C"/>
                </a:solidFill>
              </a:defRPr>
            </a:lvl1pPr>
          </a:lstStyle>
          <a:p>
            <a:pPr/>
            <a:r>
              <a:t>Proje Gereksinimlerine Uygunluk</a:t>
            </a:r>
          </a:p>
        </p:txBody>
      </p:sp>
      <p:sp>
        <p:nvSpPr>
          <p:cNvPr id="223" name="Rectangle 39"/>
          <p:cNvSpPr/>
          <p:nvPr/>
        </p:nvSpPr>
        <p:spPr>
          <a:xfrm>
            <a:off x="6949440" y="4599432"/>
            <a:ext cx="4937761" cy="12701"/>
          </a:xfrm>
          <a:prstGeom prst="rect">
            <a:avLst/>
          </a:prstGeom>
          <a:solidFill>
            <a:srgbClr val="1A7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40"/>
          <p:cNvSpPr txBox="1"/>
          <p:nvPr/>
        </p:nvSpPr>
        <p:spPr>
          <a:xfrm>
            <a:off x="7086600" y="4690871"/>
            <a:ext cx="4663441" cy="1217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✔   </a:t>
            </a:r>
            <a:r>
              <a:t>En az 2 karşılaştırılabilir sınıf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✔   </a:t>
            </a:r>
            <a:r>
              <a:t>Kanser evresi etiket olarak seçilmedi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✔   </a:t>
            </a:r>
            <a:r>
              <a:t>Survival time-event metadata mevcut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✔   </a:t>
            </a:r>
            <a:r>
              <a:t>NCBI GEO'dan ham formatta indirildi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Veri Ön İşleme ve Normalizasyon</a:t>
            </a:r>
          </a:p>
        </p:txBody>
      </p:sp>
      <p:sp>
        <p:nvSpPr>
          <p:cNvPr id="229" name="TextBox 4"/>
          <p:cNvSpPr txBox="1"/>
          <p:nvPr/>
        </p:nvSpPr>
        <p:spPr>
          <a:xfrm>
            <a:off x="411479" y="685799"/>
            <a:ext cx="11338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A0C4E0"/>
                </a:solidFill>
              </a:defRPr>
            </a:lvl1pPr>
          </a:lstStyle>
          <a:p>
            <a:pPr/>
            <a:r>
              <a:t>Ham CEL → RMA normalizasyonu → Gen sembolü → HVG-3000</a:t>
            </a:r>
          </a:p>
        </p:txBody>
      </p:sp>
      <p:sp>
        <p:nvSpPr>
          <p:cNvPr id="230" name="Rectangle 5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6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232" name="TextBox 7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33" name="Rectangle 8"/>
          <p:cNvSpPr/>
          <p:nvPr/>
        </p:nvSpPr>
        <p:spPr>
          <a:xfrm>
            <a:off x="274320" y="1078991"/>
            <a:ext cx="2240280" cy="548641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9"/>
          <p:cNvSpPr txBox="1"/>
          <p:nvPr/>
        </p:nvSpPr>
        <p:spPr>
          <a:xfrm>
            <a:off x="320040" y="1078991"/>
            <a:ext cx="21488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CEL Dosyaları</a:t>
            </a:r>
          </a:p>
        </p:txBody>
      </p:sp>
      <p:sp>
        <p:nvSpPr>
          <p:cNvPr id="235" name="TextBox 10"/>
          <p:cNvSpPr txBox="1"/>
          <p:nvPr/>
        </p:nvSpPr>
        <p:spPr>
          <a:xfrm flipH="1">
            <a:off x="2532888" y="1170432"/>
            <a:ext cx="27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236" name="Rectangle 11"/>
          <p:cNvSpPr/>
          <p:nvPr/>
        </p:nvSpPr>
        <p:spPr>
          <a:xfrm>
            <a:off x="2560320" y="1078991"/>
            <a:ext cx="2240281" cy="548641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12"/>
          <p:cNvSpPr txBox="1"/>
          <p:nvPr/>
        </p:nvSpPr>
        <p:spPr>
          <a:xfrm>
            <a:off x="2606040" y="1078991"/>
            <a:ext cx="2148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RMA Normalizasyon</a:t>
            </a:r>
          </a:p>
        </p:txBody>
      </p:sp>
      <p:sp>
        <p:nvSpPr>
          <p:cNvPr id="238" name="TextBox 13"/>
          <p:cNvSpPr txBox="1"/>
          <p:nvPr/>
        </p:nvSpPr>
        <p:spPr>
          <a:xfrm flipH="1">
            <a:off x="4818888" y="1170432"/>
            <a:ext cx="27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239" name="Rectangle 14"/>
          <p:cNvSpPr/>
          <p:nvPr/>
        </p:nvSpPr>
        <p:spPr>
          <a:xfrm>
            <a:off x="4846320" y="1078991"/>
            <a:ext cx="2240281" cy="548641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15"/>
          <p:cNvSpPr txBox="1"/>
          <p:nvPr/>
        </p:nvSpPr>
        <p:spPr>
          <a:xfrm>
            <a:off x="4892040" y="1078991"/>
            <a:ext cx="2148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Gen Sembolü</a:t>
            </a:r>
          </a:p>
        </p:txBody>
      </p:sp>
      <p:sp>
        <p:nvSpPr>
          <p:cNvPr id="241" name="TextBox 16"/>
          <p:cNvSpPr txBox="1"/>
          <p:nvPr/>
        </p:nvSpPr>
        <p:spPr>
          <a:xfrm flipH="1">
            <a:off x="7104888" y="1170432"/>
            <a:ext cx="27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242" name="Rectangle 17"/>
          <p:cNvSpPr/>
          <p:nvPr/>
        </p:nvSpPr>
        <p:spPr>
          <a:xfrm>
            <a:off x="7132319" y="1078991"/>
            <a:ext cx="2240281" cy="548641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TextBox 18"/>
          <p:cNvSpPr txBox="1"/>
          <p:nvPr/>
        </p:nvSpPr>
        <p:spPr>
          <a:xfrm>
            <a:off x="7178039" y="1078991"/>
            <a:ext cx="2148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HVG-3000</a:t>
            </a:r>
          </a:p>
        </p:txBody>
      </p:sp>
      <p:sp>
        <p:nvSpPr>
          <p:cNvPr id="244" name="TextBox 19"/>
          <p:cNvSpPr txBox="1"/>
          <p:nvPr/>
        </p:nvSpPr>
        <p:spPr>
          <a:xfrm flipH="1">
            <a:off x="9390888" y="1170432"/>
            <a:ext cx="27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▶</a:t>
            </a:r>
          </a:p>
        </p:txBody>
      </p:sp>
      <p:sp>
        <p:nvSpPr>
          <p:cNvPr id="245" name="Rectangle 20"/>
          <p:cNvSpPr/>
          <p:nvPr/>
        </p:nvSpPr>
        <p:spPr>
          <a:xfrm>
            <a:off x="9418319" y="1078991"/>
            <a:ext cx="2240281" cy="54864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21"/>
          <p:cNvSpPr txBox="1"/>
          <p:nvPr/>
        </p:nvSpPr>
        <p:spPr>
          <a:xfrm>
            <a:off x="9464039" y="1078991"/>
            <a:ext cx="21488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ER Etiketi</a:t>
            </a:r>
          </a:p>
        </p:txBody>
      </p:sp>
      <p:pic>
        <p:nvPicPr>
          <p:cNvPr id="247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783079"/>
            <a:ext cx="3749039" cy="23774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06240" y="1783079"/>
            <a:ext cx="3749040" cy="23774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24" descr="Picture 2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29600" y="1783079"/>
            <a:ext cx="3703321" cy="2377441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TextBox 25"/>
          <p:cNvSpPr txBox="1"/>
          <p:nvPr/>
        </p:nvSpPr>
        <p:spPr>
          <a:xfrm>
            <a:off x="320040" y="4206240"/>
            <a:ext cx="36576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RMA öncesi</a:t>
            </a:r>
          </a:p>
        </p:txBody>
      </p:sp>
      <p:sp>
        <p:nvSpPr>
          <p:cNvPr id="251" name="TextBox 26"/>
          <p:cNvSpPr txBox="1"/>
          <p:nvPr/>
        </p:nvSpPr>
        <p:spPr>
          <a:xfrm>
            <a:off x="4251960" y="4206240"/>
            <a:ext cx="36576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RMA sonrası</a:t>
            </a:r>
          </a:p>
        </p:txBody>
      </p:sp>
      <p:sp>
        <p:nvSpPr>
          <p:cNvPr id="252" name="TextBox 27"/>
          <p:cNvSpPr txBox="1"/>
          <p:nvPr/>
        </p:nvSpPr>
        <p:spPr>
          <a:xfrm>
            <a:off x="8275319" y="4206240"/>
            <a:ext cx="36118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PCA — ER grupları</a:t>
            </a:r>
          </a:p>
        </p:txBody>
      </p:sp>
      <p:sp>
        <p:nvSpPr>
          <p:cNvPr id="253" name="Rectangle 28"/>
          <p:cNvSpPr/>
          <p:nvPr/>
        </p:nvSpPr>
        <p:spPr>
          <a:xfrm>
            <a:off x="274320" y="4480559"/>
            <a:ext cx="11658601" cy="2011680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Rectangle 29"/>
          <p:cNvSpPr/>
          <p:nvPr/>
        </p:nvSpPr>
        <p:spPr>
          <a:xfrm>
            <a:off x="274320" y="4480559"/>
            <a:ext cx="64009" cy="2011680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TextBox 30"/>
          <p:cNvSpPr txBox="1"/>
          <p:nvPr/>
        </p:nvSpPr>
        <p:spPr>
          <a:xfrm>
            <a:off x="548640" y="4617720"/>
            <a:ext cx="11247120" cy="1157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159 hasta  ·  13.631 gen  ·  Seed: 42 (tekrarlanabilirlik)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RMA normalizasyonu: örnekler arası teknik varyasyonu giderir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Top-3000 HVG seçimi: varyans sıralamasına göre — düşük varyasyonlu genler ayırt edici bilgi taşımaz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HVG eşiği: varyans-sıra grafiğinde kırmızı kesik çizgiyle gösterildi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Diferansiyel Gen İfadesi</a:t>
            </a:r>
          </a:p>
        </p:txBody>
      </p:sp>
      <p:sp>
        <p:nvSpPr>
          <p:cNvPr id="260" name="TextBox 4"/>
          <p:cNvSpPr txBox="1"/>
          <p:nvPr/>
        </p:nvSpPr>
        <p:spPr>
          <a:xfrm>
            <a:off x="411479" y="685799"/>
            <a:ext cx="11338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A0C4E0"/>
                </a:solidFill>
              </a:defRPr>
            </a:lvl1pPr>
          </a:lstStyle>
          <a:p>
            <a:pPr/>
            <a:r>
              <a:t>limma  ·  ER− vs ER+  ·  adj.P &lt; 0.05  &amp;  |logFC| &gt; 1</a:t>
            </a:r>
          </a:p>
        </p:txBody>
      </p:sp>
      <p:sp>
        <p:nvSpPr>
          <p:cNvPr id="261" name="Rectangle 5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6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263" name="TextBox 7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264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078991"/>
            <a:ext cx="3931921" cy="30175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9120" y="1078991"/>
            <a:ext cx="3108961" cy="5212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80959" y="1078991"/>
            <a:ext cx="2148841" cy="24688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Picture 11" descr="Picture 1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966959" y="1078991"/>
            <a:ext cx="2148841" cy="2468881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TextBox 12"/>
          <p:cNvSpPr txBox="1"/>
          <p:nvPr/>
        </p:nvSpPr>
        <p:spPr>
          <a:xfrm>
            <a:off x="320039" y="4133086"/>
            <a:ext cx="384048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Volcano plot</a:t>
            </a:r>
          </a:p>
        </p:txBody>
      </p:sp>
      <p:sp>
        <p:nvSpPr>
          <p:cNvPr id="269" name="TextBox 13"/>
          <p:cNvSpPr txBox="1"/>
          <p:nvPr/>
        </p:nvSpPr>
        <p:spPr>
          <a:xfrm>
            <a:off x="4434840" y="6327647"/>
            <a:ext cx="30175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Top-50 DE heatmap</a:t>
            </a:r>
          </a:p>
        </p:txBody>
      </p:sp>
      <p:sp>
        <p:nvSpPr>
          <p:cNvPr id="270" name="TextBox 14"/>
          <p:cNvSpPr txBox="1"/>
          <p:nvPr/>
        </p:nvSpPr>
        <p:spPr>
          <a:xfrm>
            <a:off x="7726679" y="3584447"/>
            <a:ext cx="2057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ESR1 (ER+↑)</a:t>
            </a:r>
          </a:p>
        </p:txBody>
      </p:sp>
      <p:sp>
        <p:nvSpPr>
          <p:cNvPr id="271" name="TextBox 15"/>
          <p:cNvSpPr txBox="1"/>
          <p:nvPr/>
        </p:nvSpPr>
        <p:spPr>
          <a:xfrm>
            <a:off x="10012679" y="3584447"/>
            <a:ext cx="20574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S100A8 (ER−↑)</a:t>
            </a:r>
          </a:p>
        </p:txBody>
      </p:sp>
      <p:sp>
        <p:nvSpPr>
          <p:cNvPr id="272" name="Rectangle 16"/>
          <p:cNvSpPr/>
          <p:nvPr/>
        </p:nvSpPr>
        <p:spPr>
          <a:xfrm>
            <a:off x="7589519" y="3840479"/>
            <a:ext cx="4526281" cy="2560321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Rectangle 17"/>
          <p:cNvSpPr/>
          <p:nvPr/>
        </p:nvSpPr>
        <p:spPr>
          <a:xfrm>
            <a:off x="7589519" y="3840479"/>
            <a:ext cx="64009" cy="256032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18"/>
          <p:cNvSpPr txBox="1"/>
          <p:nvPr/>
        </p:nvSpPr>
        <p:spPr>
          <a:xfrm>
            <a:off x="7818119" y="3913632"/>
            <a:ext cx="411480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A385C"/>
                </a:solidFill>
              </a:defRPr>
            </a:lvl1pPr>
          </a:lstStyle>
          <a:p>
            <a:pPr/>
            <a:r>
              <a:t>46 Anlamlı Gen</a:t>
            </a:r>
          </a:p>
        </p:txBody>
      </p:sp>
      <p:sp>
        <p:nvSpPr>
          <p:cNvPr id="275" name="TextBox 19"/>
          <p:cNvSpPr txBox="1"/>
          <p:nvPr/>
        </p:nvSpPr>
        <p:spPr>
          <a:xfrm>
            <a:off x="7818119" y="4315967"/>
            <a:ext cx="4114802" cy="132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14 ↑ Up (ER−'de yüksek):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     S100A8 · S100A9 · GABRP · PROM1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32 ↓ Down (ER+'de yüksek):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     ESR1 · NAT1 · TFF1 · SCUBE2 · CA12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Wilcoxon p-değeri boxplot başlıklarında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Survival Analizi ve Cox Regresyonu</a:t>
            </a:r>
          </a:p>
        </p:txBody>
      </p:sp>
      <p:sp>
        <p:nvSpPr>
          <p:cNvPr id="280" name="TextBox 4"/>
          <p:cNvSpPr txBox="1"/>
          <p:nvPr/>
        </p:nvSpPr>
        <p:spPr>
          <a:xfrm>
            <a:off x="411479" y="685799"/>
            <a:ext cx="11338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A0C4E0"/>
                </a:solidFill>
              </a:defRPr>
            </a:lvl1pPr>
          </a:lstStyle>
          <a:p>
            <a:pPr/>
            <a:r>
              <a:t>10 gen  ·  Kaplan–Meier  ·  Univariant + Multivariable Cox</a:t>
            </a:r>
          </a:p>
        </p:txBody>
      </p:sp>
      <p:sp>
        <p:nvSpPr>
          <p:cNvPr id="281" name="Rectangle 5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6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283" name="TextBox 7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7</a:t>
            </a:r>
          </a:p>
        </p:txBody>
      </p:sp>
      <p:pic>
        <p:nvPicPr>
          <p:cNvPr id="284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078991"/>
            <a:ext cx="3566160" cy="2926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23359" y="1078991"/>
            <a:ext cx="3566161" cy="2926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18119" y="1078991"/>
            <a:ext cx="4206241" cy="2926081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TextBox 11"/>
          <p:cNvSpPr txBox="1"/>
          <p:nvPr/>
        </p:nvSpPr>
        <p:spPr>
          <a:xfrm>
            <a:off x="320039" y="4041647"/>
            <a:ext cx="3474721" cy="214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900">
                <a:solidFill>
                  <a:srgbClr val="555555"/>
                </a:solidFill>
              </a:defRPr>
            </a:pPr>
            <a:r>
              <a:t>S100A9 KM  (p = 0,013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✱</a:t>
            </a:r>
            <a:r>
              <a:t>)</a:t>
            </a:r>
          </a:p>
        </p:txBody>
      </p:sp>
      <p:sp>
        <p:nvSpPr>
          <p:cNvPr id="288" name="TextBox 12"/>
          <p:cNvSpPr txBox="1"/>
          <p:nvPr/>
        </p:nvSpPr>
        <p:spPr>
          <a:xfrm>
            <a:off x="4069079" y="4041647"/>
            <a:ext cx="347472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ESR1 KM</a:t>
            </a:r>
          </a:p>
        </p:txBody>
      </p:sp>
      <p:sp>
        <p:nvSpPr>
          <p:cNvPr id="289" name="TextBox 13"/>
          <p:cNvSpPr txBox="1"/>
          <p:nvPr/>
        </p:nvSpPr>
        <p:spPr>
          <a:xfrm>
            <a:off x="7863839" y="4041647"/>
            <a:ext cx="411480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Univariant Cox — 10 gen</a:t>
            </a:r>
          </a:p>
        </p:txBody>
      </p:sp>
      <p:sp>
        <p:nvSpPr>
          <p:cNvPr id="290" name="Rectangle 14"/>
          <p:cNvSpPr/>
          <p:nvPr/>
        </p:nvSpPr>
        <p:spPr>
          <a:xfrm>
            <a:off x="274320" y="4251959"/>
            <a:ext cx="11658601" cy="2240281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15"/>
          <p:cNvSpPr/>
          <p:nvPr/>
        </p:nvSpPr>
        <p:spPr>
          <a:xfrm>
            <a:off x="274320" y="4251959"/>
            <a:ext cx="64009" cy="2240281"/>
          </a:xfrm>
          <a:prstGeom prst="rect">
            <a:avLst/>
          </a:prstGeom>
          <a:solidFill>
            <a:srgbClr val="BB222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16"/>
          <p:cNvSpPr txBox="1"/>
          <p:nvPr/>
        </p:nvSpPr>
        <p:spPr>
          <a:xfrm>
            <a:off x="502919" y="4315967"/>
            <a:ext cx="11887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385C"/>
                </a:solidFill>
              </a:defRPr>
            </a:lvl1pPr>
          </a:lstStyle>
          <a:p>
            <a:pPr/>
            <a:r>
              <a:t>Gen</a:t>
            </a:r>
          </a:p>
        </p:txBody>
      </p:sp>
      <p:sp>
        <p:nvSpPr>
          <p:cNvPr id="293" name="TextBox 17"/>
          <p:cNvSpPr txBox="1"/>
          <p:nvPr/>
        </p:nvSpPr>
        <p:spPr>
          <a:xfrm>
            <a:off x="1874519" y="4315967"/>
            <a:ext cx="7315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385C"/>
                </a:solidFill>
              </a:defRPr>
            </a:lvl1pPr>
          </a:lstStyle>
          <a:p>
            <a:pPr/>
            <a:r>
              <a:t>HR</a:t>
            </a:r>
          </a:p>
        </p:txBody>
      </p:sp>
      <p:sp>
        <p:nvSpPr>
          <p:cNvPr id="294" name="TextBox 18"/>
          <p:cNvSpPr txBox="1"/>
          <p:nvPr/>
        </p:nvSpPr>
        <p:spPr>
          <a:xfrm>
            <a:off x="2788919" y="4315967"/>
            <a:ext cx="17373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385C"/>
                </a:solidFill>
              </a:defRPr>
            </a:lvl1pPr>
          </a:lstStyle>
          <a:p>
            <a:pPr/>
            <a:r>
              <a:t>95% CI</a:t>
            </a:r>
          </a:p>
        </p:txBody>
      </p:sp>
      <p:sp>
        <p:nvSpPr>
          <p:cNvPr id="295" name="TextBox 19"/>
          <p:cNvSpPr txBox="1"/>
          <p:nvPr/>
        </p:nvSpPr>
        <p:spPr>
          <a:xfrm>
            <a:off x="4709160" y="4315967"/>
            <a:ext cx="8229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385C"/>
                </a:solidFill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296" name="TextBox 20"/>
          <p:cNvSpPr txBox="1"/>
          <p:nvPr/>
        </p:nvSpPr>
        <p:spPr>
          <a:xfrm>
            <a:off x="5760719" y="4315967"/>
            <a:ext cx="598932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385C"/>
                </a:solidFill>
              </a:defRPr>
            </a:lvl1pPr>
          </a:lstStyle>
          <a:p>
            <a:pPr/>
            <a:r>
              <a:t>Yorum</a:t>
            </a:r>
          </a:p>
        </p:txBody>
      </p:sp>
      <p:sp>
        <p:nvSpPr>
          <p:cNvPr id="297" name="Rectangle 21"/>
          <p:cNvSpPr/>
          <p:nvPr/>
        </p:nvSpPr>
        <p:spPr>
          <a:xfrm>
            <a:off x="457200" y="4590288"/>
            <a:ext cx="11338560" cy="12701"/>
          </a:xfrm>
          <a:prstGeom prst="rect">
            <a:avLst/>
          </a:prstGeom>
          <a:solidFill>
            <a:srgbClr val="E8ECF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Rectangle 22"/>
          <p:cNvSpPr/>
          <p:nvPr/>
        </p:nvSpPr>
        <p:spPr>
          <a:xfrm>
            <a:off x="457200" y="4663440"/>
            <a:ext cx="11338560" cy="566929"/>
          </a:xfrm>
          <a:prstGeom prst="rect">
            <a:avLst/>
          </a:prstGeom>
          <a:solidFill>
            <a:srgbClr val="FF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23"/>
          <p:cNvSpPr txBox="1"/>
          <p:nvPr/>
        </p:nvSpPr>
        <p:spPr>
          <a:xfrm>
            <a:off x="557783" y="4726940"/>
            <a:ext cx="1133858" cy="25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200">
                <a:solidFill>
                  <a:srgbClr val="BB222F"/>
                </a:solidFill>
              </a:defRPr>
            </a:pPr>
            <a:r>
              <a:t>S100A9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✱</a:t>
            </a:r>
          </a:p>
        </p:txBody>
      </p:sp>
      <p:sp>
        <p:nvSpPr>
          <p:cNvPr id="300" name="TextBox 24"/>
          <p:cNvSpPr txBox="1"/>
          <p:nvPr/>
        </p:nvSpPr>
        <p:spPr>
          <a:xfrm>
            <a:off x="1929384" y="4726940"/>
            <a:ext cx="67665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BB222F"/>
                </a:solidFill>
              </a:defRPr>
            </a:lvl1pPr>
          </a:lstStyle>
          <a:p>
            <a:pPr/>
            <a:r>
              <a:t>2,33</a:t>
            </a:r>
          </a:p>
        </p:txBody>
      </p:sp>
      <p:sp>
        <p:nvSpPr>
          <p:cNvPr id="301" name="TextBox 25"/>
          <p:cNvSpPr txBox="1"/>
          <p:nvPr/>
        </p:nvSpPr>
        <p:spPr>
          <a:xfrm>
            <a:off x="2843784" y="4726940"/>
            <a:ext cx="168249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BB222F"/>
                </a:solidFill>
              </a:defRPr>
            </a:lvl1pPr>
          </a:lstStyle>
          <a:p>
            <a:pPr/>
            <a:r>
              <a:t>1,20–4,51</a:t>
            </a:r>
          </a:p>
        </p:txBody>
      </p:sp>
      <p:sp>
        <p:nvSpPr>
          <p:cNvPr id="302" name="TextBox 26"/>
          <p:cNvSpPr txBox="1"/>
          <p:nvPr/>
        </p:nvSpPr>
        <p:spPr>
          <a:xfrm>
            <a:off x="4764023" y="4726940"/>
            <a:ext cx="76809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BB222F"/>
                </a:solidFill>
              </a:defRPr>
            </a:lvl1pPr>
          </a:lstStyle>
          <a:p>
            <a:pPr/>
            <a:r>
              <a:t>0,013</a:t>
            </a:r>
          </a:p>
        </p:txBody>
      </p:sp>
      <p:sp>
        <p:nvSpPr>
          <p:cNvPr id="303" name="TextBox 27"/>
          <p:cNvSpPr txBox="1"/>
          <p:nvPr/>
        </p:nvSpPr>
        <p:spPr>
          <a:xfrm>
            <a:off x="5815584" y="4726940"/>
            <a:ext cx="593445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BB222F"/>
                </a:solidFill>
              </a:defRPr>
            </a:lvl1pPr>
          </a:lstStyle>
          <a:p>
            <a:pPr/>
            <a:r>
              <a:t>Tek anlamlı gen — yüksek ifade → 2,3× relaps riski</a:t>
            </a:r>
          </a:p>
        </p:txBody>
      </p:sp>
      <p:sp>
        <p:nvSpPr>
          <p:cNvPr id="304" name="Rectangle 28"/>
          <p:cNvSpPr/>
          <p:nvPr/>
        </p:nvSpPr>
        <p:spPr>
          <a:xfrm>
            <a:off x="457200" y="5230367"/>
            <a:ext cx="11338560" cy="566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29"/>
          <p:cNvSpPr txBox="1"/>
          <p:nvPr/>
        </p:nvSpPr>
        <p:spPr>
          <a:xfrm>
            <a:off x="557783" y="5293867"/>
            <a:ext cx="1133858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GABRP</a:t>
            </a:r>
          </a:p>
        </p:txBody>
      </p:sp>
      <p:sp>
        <p:nvSpPr>
          <p:cNvPr id="306" name="TextBox 30"/>
          <p:cNvSpPr txBox="1"/>
          <p:nvPr/>
        </p:nvSpPr>
        <p:spPr>
          <a:xfrm>
            <a:off x="1929384" y="5293867"/>
            <a:ext cx="67665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0,55</a:t>
            </a:r>
          </a:p>
        </p:txBody>
      </p:sp>
      <p:sp>
        <p:nvSpPr>
          <p:cNvPr id="307" name="TextBox 31"/>
          <p:cNvSpPr txBox="1"/>
          <p:nvPr/>
        </p:nvSpPr>
        <p:spPr>
          <a:xfrm>
            <a:off x="2843784" y="5293867"/>
            <a:ext cx="1682496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0,29–1,04</a:t>
            </a:r>
          </a:p>
        </p:txBody>
      </p:sp>
      <p:sp>
        <p:nvSpPr>
          <p:cNvPr id="308" name="TextBox 32"/>
          <p:cNvSpPr txBox="1"/>
          <p:nvPr/>
        </p:nvSpPr>
        <p:spPr>
          <a:xfrm>
            <a:off x="4764023" y="5293867"/>
            <a:ext cx="76809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0,067</a:t>
            </a:r>
          </a:p>
        </p:txBody>
      </p:sp>
      <p:sp>
        <p:nvSpPr>
          <p:cNvPr id="309" name="TextBox 33"/>
          <p:cNvSpPr txBox="1"/>
          <p:nvPr/>
        </p:nvSpPr>
        <p:spPr>
          <a:xfrm>
            <a:off x="5815584" y="5293867"/>
            <a:ext cx="593445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Sınır düzeyinde — yorumlanmadı</a:t>
            </a:r>
          </a:p>
        </p:txBody>
      </p:sp>
      <p:sp>
        <p:nvSpPr>
          <p:cNvPr id="310" name="Rectangle 34"/>
          <p:cNvSpPr/>
          <p:nvPr/>
        </p:nvSpPr>
        <p:spPr>
          <a:xfrm>
            <a:off x="457200" y="5797296"/>
            <a:ext cx="11338560" cy="566929"/>
          </a:xfrm>
          <a:prstGeom prst="rect">
            <a:avLst/>
          </a:prstGeom>
          <a:solidFill>
            <a:srgbClr val="F6F8F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35"/>
          <p:cNvSpPr txBox="1"/>
          <p:nvPr/>
        </p:nvSpPr>
        <p:spPr>
          <a:xfrm>
            <a:off x="557783" y="5860796"/>
            <a:ext cx="113385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Diğer 8</a:t>
            </a:r>
          </a:p>
        </p:txBody>
      </p:sp>
      <p:sp>
        <p:nvSpPr>
          <p:cNvPr id="312" name="TextBox 36"/>
          <p:cNvSpPr txBox="1"/>
          <p:nvPr/>
        </p:nvSpPr>
        <p:spPr>
          <a:xfrm>
            <a:off x="1929384" y="5860796"/>
            <a:ext cx="67665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313" name="TextBox 37"/>
          <p:cNvSpPr txBox="1"/>
          <p:nvPr/>
        </p:nvSpPr>
        <p:spPr>
          <a:xfrm>
            <a:off x="2843784" y="5860796"/>
            <a:ext cx="1682496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314" name="TextBox 38"/>
          <p:cNvSpPr txBox="1"/>
          <p:nvPr/>
        </p:nvSpPr>
        <p:spPr>
          <a:xfrm>
            <a:off x="4764023" y="5860796"/>
            <a:ext cx="76809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&gt;0,10</a:t>
            </a:r>
          </a:p>
        </p:txBody>
      </p:sp>
      <p:sp>
        <p:nvSpPr>
          <p:cNvPr id="315" name="TextBox 39"/>
          <p:cNvSpPr txBox="1"/>
          <p:nvPr/>
        </p:nvSpPr>
        <p:spPr>
          <a:xfrm>
            <a:off x="5815584" y="5860796"/>
            <a:ext cx="5934457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55555"/>
                </a:solidFill>
              </a:defRPr>
            </a:lvl1pPr>
          </a:lstStyle>
          <a:p>
            <a:pPr/>
            <a:r>
              <a:t>Bu kohort boyutunda anlamlı prognostik etki yok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WGCNA — Gen Co-expression Ağları</a:t>
            </a:r>
          </a:p>
        </p:txBody>
      </p:sp>
      <p:sp>
        <p:nvSpPr>
          <p:cNvPr id="320" name="TextBox 4"/>
          <p:cNvSpPr txBox="1"/>
          <p:nvPr/>
        </p:nvSpPr>
        <p:spPr>
          <a:xfrm>
            <a:off x="411479" y="685799"/>
            <a:ext cx="11338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A0C4E0"/>
                </a:solidFill>
              </a:defRPr>
            </a:lvl1pPr>
          </a:lstStyle>
          <a:p>
            <a:pPr/>
            <a:r>
              <a:t>Birlikte çalışan genlerin modüllere ayrılması</a:t>
            </a:r>
          </a:p>
        </p:txBody>
      </p:sp>
      <p:sp>
        <p:nvSpPr>
          <p:cNvPr id="321" name="Rectangle 5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TextBox 6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323" name="TextBox 7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8</a:t>
            </a:r>
          </a:p>
        </p:txBody>
      </p:sp>
      <p:pic>
        <p:nvPicPr>
          <p:cNvPr id="324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078991"/>
            <a:ext cx="4023360" cy="2651762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0" y="1078991"/>
            <a:ext cx="3840480" cy="35204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10" descr="Picture 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41080" y="1078991"/>
            <a:ext cx="3383281" cy="3520442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TextBox 11"/>
          <p:cNvSpPr txBox="1"/>
          <p:nvPr/>
        </p:nvSpPr>
        <p:spPr>
          <a:xfrm>
            <a:off x="320039" y="3767328"/>
            <a:ext cx="393192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Soft threshold (power = 4)</a:t>
            </a:r>
          </a:p>
        </p:txBody>
      </p:sp>
      <p:sp>
        <p:nvSpPr>
          <p:cNvPr id="328" name="TextBox 12"/>
          <p:cNvSpPr txBox="1"/>
          <p:nvPr/>
        </p:nvSpPr>
        <p:spPr>
          <a:xfrm>
            <a:off x="4617720" y="4636008"/>
            <a:ext cx="37490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Modül–trait korelasyon haritası</a:t>
            </a:r>
          </a:p>
        </p:txBody>
      </p:sp>
      <p:sp>
        <p:nvSpPr>
          <p:cNvPr id="329" name="TextBox 13"/>
          <p:cNvSpPr txBox="1"/>
          <p:nvPr/>
        </p:nvSpPr>
        <p:spPr>
          <a:xfrm>
            <a:off x="8686800" y="4636008"/>
            <a:ext cx="32918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Red modülü ağı (top-50 TOM kenarı)</a:t>
            </a:r>
          </a:p>
        </p:txBody>
      </p:sp>
      <p:sp>
        <p:nvSpPr>
          <p:cNvPr id="330" name="Rectangle 14"/>
          <p:cNvSpPr/>
          <p:nvPr/>
        </p:nvSpPr>
        <p:spPr>
          <a:xfrm>
            <a:off x="274319" y="3977638"/>
            <a:ext cx="4023361" cy="2514601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Rectangle 15"/>
          <p:cNvSpPr/>
          <p:nvPr/>
        </p:nvSpPr>
        <p:spPr>
          <a:xfrm>
            <a:off x="274320" y="3977638"/>
            <a:ext cx="64009" cy="251460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TextBox 16"/>
          <p:cNvSpPr txBox="1"/>
          <p:nvPr/>
        </p:nvSpPr>
        <p:spPr>
          <a:xfrm>
            <a:off x="548639" y="4069079"/>
            <a:ext cx="3566161" cy="1858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Giriş: top-5000 HVG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17 renkli modül oluşturuldu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Her modülden 5 hub gen seçildi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  (en yüksek kME skoru)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Red modülü: ER ile en güçlü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  korelasyon → GO ve ML'de kullanıldı</a:t>
            </a:r>
          </a:p>
          <a:p>
            <a:pPr>
              <a:spcBef>
                <a:spcPts val="500"/>
              </a:spcBef>
              <a:defRPr sz="1300">
                <a:solidFill>
                  <a:srgbClr val="1C2833"/>
                </a:solidFill>
              </a:defRPr>
            </a:pPr>
            <a:r>
              <a:t>Cytoscape CSV dosyaları üretildi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GO Enrichment Analizi</a:t>
            </a:r>
          </a:p>
        </p:txBody>
      </p:sp>
      <p:sp>
        <p:nvSpPr>
          <p:cNvPr id="337" name="TextBox 4"/>
          <p:cNvSpPr txBox="1"/>
          <p:nvPr/>
        </p:nvSpPr>
        <p:spPr>
          <a:xfrm>
            <a:off x="411479" y="685799"/>
            <a:ext cx="11338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A0C4E0"/>
                </a:solidFill>
              </a:defRPr>
            </a:lvl1pPr>
          </a:lstStyle>
          <a:p>
            <a:pPr/>
            <a:r>
              <a:t>Red modülü  ·  GO Biological Process  ·  8 anlamlı terim</a:t>
            </a:r>
          </a:p>
        </p:txBody>
      </p:sp>
      <p:sp>
        <p:nvSpPr>
          <p:cNvPr id="338" name="Rectangle 5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6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340" name="TextBox 7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9</a:t>
            </a:r>
          </a:p>
        </p:txBody>
      </p:sp>
      <p:pic>
        <p:nvPicPr>
          <p:cNvPr id="341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078991"/>
            <a:ext cx="5577841" cy="49377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2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6479" y="1078991"/>
            <a:ext cx="5806442" cy="4937761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TextBox 10"/>
          <p:cNvSpPr txBox="1"/>
          <p:nvPr/>
        </p:nvSpPr>
        <p:spPr>
          <a:xfrm>
            <a:off x="320039" y="6053328"/>
            <a:ext cx="54864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GO barplot (p.adjust &lt; 0,05)</a:t>
            </a:r>
          </a:p>
        </p:txBody>
      </p:sp>
      <p:sp>
        <p:nvSpPr>
          <p:cNvPr id="344" name="TextBox 11"/>
          <p:cNvSpPr txBox="1"/>
          <p:nvPr/>
        </p:nvSpPr>
        <p:spPr>
          <a:xfrm>
            <a:off x="6172199" y="6053328"/>
            <a:ext cx="571500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GO dotplot</a:t>
            </a:r>
          </a:p>
        </p:txBody>
      </p:sp>
      <p:sp>
        <p:nvSpPr>
          <p:cNvPr id="345" name="Rectangle 12"/>
          <p:cNvSpPr/>
          <p:nvPr/>
        </p:nvSpPr>
        <p:spPr>
          <a:xfrm>
            <a:off x="274320" y="6327647"/>
            <a:ext cx="11658601" cy="201169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1"/>
          <p:cNvSpPr/>
          <p:nvPr/>
        </p:nvSpPr>
        <p:spPr>
          <a:xfrm>
            <a:off x="32003" y="-1"/>
            <a:ext cx="12188954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Makine Öğrenmesi — Yöntem</a:t>
            </a:r>
          </a:p>
        </p:txBody>
      </p:sp>
      <p:sp>
        <p:nvSpPr>
          <p:cNvPr id="350" name="TextBox 4"/>
          <p:cNvSpPr txBox="1"/>
          <p:nvPr/>
        </p:nvSpPr>
        <p:spPr>
          <a:xfrm>
            <a:off x="411479" y="685799"/>
            <a:ext cx="11338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A0C4E0"/>
                </a:solidFill>
              </a:defRPr>
            </a:lvl1pPr>
          </a:lstStyle>
          <a:p>
            <a:pPr/>
            <a:r>
              <a:t>3 Feature Setup  ×  3 Model  ×  5-Fold Cross Validation</a:t>
            </a:r>
          </a:p>
        </p:txBody>
      </p:sp>
      <p:sp>
        <p:nvSpPr>
          <p:cNvPr id="351" name="Rectangle 5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6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353" name="TextBox 7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54" name="TextBox 8"/>
          <p:cNvSpPr txBox="1"/>
          <p:nvPr/>
        </p:nvSpPr>
        <p:spPr>
          <a:xfrm>
            <a:off x="388618" y="1084142"/>
            <a:ext cx="1129284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A385C"/>
                </a:solidFill>
              </a:defRPr>
            </a:lvl1pPr>
          </a:lstStyle>
          <a:p>
            <a:pPr/>
            <a:r>
              <a:t>Feature Setup'ları</a:t>
            </a:r>
          </a:p>
        </p:txBody>
      </p:sp>
      <p:sp>
        <p:nvSpPr>
          <p:cNvPr id="355" name="Rectangle 9"/>
          <p:cNvSpPr/>
          <p:nvPr/>
        </p:nvSpPr>
        <p:spPr>
          <a:xfrm>
            <a:off x="365759" y="1463039"/>
            <a:ext cx="1463042" cy="320041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TextBox 10"/>
          <p:cNvSpPr txBox="1"/>
          <p:nvPr/>
        </p:nvSpPr>
        <p:spPr>
          <a:xfrm>
            <a:off x="411479" y="1463039"/>
            <a:ext cx="13716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Setup</a:t>
            </a:r>
          </a:p>
        </p:txBody>
      </p:sp>
      <p:sp>
        <p:nvSpPr>
          <p:cNvPr id="357" name="Rectangle 11"/>
          <p:cNvSpPr/>
          <p:nvPr/>
        </p:nvSpPr>
        <p:spPr>
          <a:xfrm>
            <a:off x="1874518" y="1463039"/>
            <a:ext cx="8321041" cy="320041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12"/>
          <p:cNvSpPr txBox="1"/>
          <p:nvPr/>
        </p:nvSpPr>
        <p:spPr>
          <a:xfrm>
            <a:off x="1920238" y="1463039"/>
            <a:ext cx="82296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Kullanılan Özellikler</a:t>
            </a:r>
          </a:p>
        </p:txBody>
      </p:sp>
      <p:sp>
        <p:nvSpPr>
          <p:cNvPr id="359" name="Rectangle 13"/>
          <p:cNvSpPr/>
          <p:nvPr/>
        </p:nvSpPr>
        <p:spPr>
          <a:xfrm>
            <a:off x="10241280" y="1463039"/>
            <a:ext cx="1508761" cy="320041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14"/>
          <p:cNvSpPr txBox="1"/>
          <p:nvPr/>
        </p:nvSpPr>
        <p:spPr>
          <a:xfrm>
            <a:off x="10287000" y="1463039"/>
            <a:ext cx="14173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Boyut</a:t>
            </a:r>
          </a:p>
        </p:txBody>
      </p:sp>
      <p:sp>
        <p:nvSpPr>
          <p:cNvPr id="361" name="Rectangle 15"/>
          <p:cNvSpPr/>
          <p:nvPr/>
        </p:nvSpPr>
        <p:spPr>
          <a:xfrm>
            <a:off x="365759" y="1783079"/>
            <a:ext cx="11430001" cy="475488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16"/>
          <p:cNvSpPr txBox="1"/>
          <p:nvPr/>
        </p:nvSpPr>
        <p:spPr>
          <a:xfrm>
            <a:off x="502919" y="1846579"/>
            <a:ext cx="128016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A6EB0"/>
                </a:solidFill>
              </a:defRPr>
            </a:lvl1pPr>
          </a:lstStyle>
          <a:p>
            <a:pPr/>
            <a:r>
              <a:t>Setup-0</a:t>
            </a:r>
          </a:p>
        </p:txBody>
      </p:sp>
      <p:sp>
        <p:nvSpPr>
          <p:cNvPr id="363" name="TextBox 17"/>
          <p:cNvSpPr txBox="1"/>
          <p:nvPr/>
        </p:nvSpPr>
        <p:spPr>
          <a:xfrm>
            <a:off x="2011678" y="1846579"/>
            <a:ext cx="80924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C2833"/>
                </a:solidFill>
              </a:defRPr>
            </a:lvl1pPr>
          </a:lstStyle>
          <a:p>
            <a:pPr/>
            <a:r>
              <a:t>Top-3000 HVG  (filtresiz referans)</a:t>
            </a:r>
          </a:p>
        </p:txBody>
      </p:sp>
      <p:sp>
        <p:nvSpPr>
          <p:cNvPr id="364" name="TextBox 18"/>
          <p:cNvSpPr txBox="1"/>
          <p:nvPr/>
        </p:nvSpPr>
        <p:spPr>
          <a:xfrm>
            <a:off x="10332719" y="1846579"/>
            <a:ext cx="13716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2A6EB0"/>
                </a:solidFill>
              </a:defRPr>
            </a:lvl1pPr>
          </a:lstStyle>
          <a:p>
            <a:pPr/>
            <a:r>
              <a:t>3.000 gen</a:t>
            </a:r>
          </a:p>
        </p:txBody>
      </p:sp>
      <p:sp>
        <p:nvSpPr>
          <p:cNvPr id="365" name="Rectangle 19"/>
          <p:cNvSpPr/>
          <p:nvPr/>
        </p:nvSpPr>
        <p:spPr>
          <a:xfrm>
            <a:off x="365759" y="2258567"/>
            <a:ext cx="11430001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TextBox 20"/>
          <p:cNvSpPr txBox="1"/>
          <p:nvPr/>
        </p:nvSpPr>
        <p:spPr>
          <a:xfrm>
            <a:off x="502919" y="2322067"/>
            <a:ext cx="128016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A6EB0"/>
                </a:solidFill>
              </a:defRPr>
            </a:lvl1pPr>
          </a:lstStyle>
          <a:p>
            <a:pPr/>
            <a:r>
              <a:t>Setup-1</a:t>
            </a:r>
          </a:p>
        </p:txBody>
      </p:sp>
      <p:sp>
        <p:nvSpPr>
          <p:cNvPr id="367" name="TextBox 21"/>
          <p:cNvSpPr txBox="1"/>
          <p:nvPr/>
        </p:nvSpPr>
        <p:spPr>
          <a:xfrm>
            <a:off x="2011678" y="2322067"/>
            <a:ext cx="80924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C2833"/>
                </a:solidFill>
              </a:defRPr>
            </a:lvl1pPr>
          </a:lstStyle>
          <a:p>
            <a:pPr/>
            <a:r>
              <a:t>DGE (46 gen) + WGCNA hub (85 gen)</a:t>
            </a:r>
          </a:p>
        </p:txBody>
      </p:sp>
      <p:sp>
        <p:nvSpPr>
          <p:cNvPr id="368" name="TextBox 22"/>
          <p:cNvSpPr txBox="1"/>
          <p:nvPr/>
        </p:nvSpPr>
        <p:spPr>
          <a:xfrm>
            <a:off x="10332719" y="2322067"/>
            <a:ext cx="13716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2A6EB0"/>
                </a:solidFill>
              </a:defRPr>
            </a:lvl1pPr>
          </a:lstStyle>
          <a:p>
            <a:pPr/>
            <a:r>
              <a:t>131 gen</a:t>
            </a:r>
          </a:p>
        </p:txBody>
      </p:sp>
      <p:sp>
        <p:nvSpPr>
          <p:cNvPr id="369" name="Rectangle 23"/>
          <p:cNvSpPr/>
          <p:nvPr/>
        </p:nvSpPr>
        <p:spPr>
          <a:xfrm>
            <a:off x="365759" y="2734055"/>
            <a:ext cx="11430001" cy="475488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24"/>
          <p:cNvSpPr txBox="1"/>
          <p:nvPr/>
        </p:nvSpPr>
        <p:spPr>
          <a:xfrm>
            <a:off x="502919" y="2797555"/>
            <a:ext cx="128016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2A6EB0"/>
                </a:solidFill>
              </a:defRPr>
            </a:lvl1pPr>
          </a:lstStyle>
          <a:p>
            <a:pPr/>
            <a:r>
              <a:t>Setup-2</a:t>
            </a:r>
          </a:p>
        </p:txBody>
      </p:sp>
      <p:sp>
        <p:nvSpPr>
          <p:cNvPr id="371" name="TextBox 25"/>
          <p:cNvSpPr txBox="1"/>
          <p:nvPr/>
        </p:nvSpPr>
        <p:spPr>
          <a:xfrm>
            <a:off x="2011678" y="2797555"/>
            <a:ext cx="80924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C2833"/>
                </a:solidFill>
              </a:defRPr>
            </a:lvl1pPr>
          </a:lstStyle>
          <a:p>
            <a:pPr/>
            <a:r>
              <a:t>VarianceThreshold + SelectKBest</a:t>
            </a:r>
          </a:p>
        </p:txBody>
      </p:sp>
      <p:sp>
        <p:nvSpPr>
          <p:cNvPr id="372" name="TextBox 26"/>
          <p:cNvSpPr txBox="1"/>
          <p:nvPr/>
        </p:nvSpPr>
        <p:spPr>
          <a:xfrm>
            <a:off x="10332719" y="2797555"/>
            <a:ext cx="13716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2A6EB0"/>
                </a:solidFill>
              </a:defRPr>
            </a:lvl1pPr>
          </a:lstStyle>
          <a:p>
            <a:pPr/>
            <a:r>
              <a:t>100 gen</a:t>
            </a:r>
          </a:p>
        </p:txBody>
      </p:sp>
      <p:sp>
        <p:nvSpPr>
          <p:cNvPr id="373" name="TextBox 27"/>
          <p:cNvSpPr txBox="1"/>
          <p:nvPr/>
        </p:nvSpPr>
        <p:spPr>
          <a:xfrm>
            <a:off x="388618" y="3190993"/>
            <a:ext cx="1129284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1A385C"/>
                </a:solidFill>
              </a:defRPr>
            </a:lvl1pPr>
          </a:lstStyle>
          <a:p>
            <a:pPr/>
            <a:r>
              <a:t>Sınıflandırma Modelleri</a:t>
            </a:r>
          </a:p>
        </p:txBody>
      </p:sp>
      <p:sp>
        <p:nvSpPr>
          <p:cNvPr id="374" name="Rectangle 28"/>
          <p:cNvSpPr/>
          <p:nvPr/>
        </p:nvSpPr>
        <p:spPr>
          <a:xfrm>
            <a:off x="365759" y="3428999"/>
            <a:ext cx="2286001" cy="320042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TextBox 29"/>
          <p:cNvSpPr txBox="1"/>
          <p:nvPr/>
        </p:nvSpPr>
        <p:spPr>
          <a:xfrm>
            <a:off x="411479" y="3428999"/>
            <a:ext cx="2194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376" name="Rectangle 30"/>
          <p:cNvSpPr/>
          <p:nvPr/>
        </p:nvSpPr>
        <p:spPr>
          <a:xfrm>
            <a:off x="2697480" y="3428999"/>
            <a:ext cx="8732520" cy="320042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31"/>
          <p:cNvSpPr txBox="1"/>
          <p:nvPr/>
        </p:nvSpPr>
        <p:spPr>
          <a:xfrm>
            <a:off x="2743200" y="3428999"/>
            <a:ext cx="86410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Açıklama</a:t>
            </a:r>
          </a:p>
        </p:txBody>
      </p:sp>
      <p:sp>
        <p:nvSpPr>
          <p:cNvPr id="378" name="Rectangle 32"/>
          <p:cNvSpPr/>
          <p:nvPr/>
        </p:nvSpPr>
        <p:spPr>
          <a:xfrm>
            <a:off x="365759" y="3749038"/>
            <a:ext cx="11430001" cy="475488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33"/>
          <p:cNvSpPr txBox="1"/>
          <p:nvPr/>
        </p:nvSpPr>
        <p:spPr>
          <a:xfrm>
            <a:off x="502919" y="3812538"/>
            <a:ext cx="210312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C2833"/>
                </a:solidFill>
              </a:defRPr>
            </a:lvl1pPr>
          </a:lstStyle>
          <a:p>
            <a:pPr/>
            <a:r>
              <a:t>Logistic Regression</a:t>
            </a:r>
          </a:p>
        </p:txBody>
      </p:sp>
      <p:sp>
        <p:nvSpPr>
          <p:cNvPr id="380" name="TextBox 34"/>
          <p:cNvSpPr txBox="1"/>
          <p:nvPr/>
        </p:nvSpPr>
        <p:spPr>
          <a:xfrm>
            <a:off x="2834640" y="3812538"/>
            <a:ext cx="850392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C2833"/>
                </a:solidFill>
              </a:defRPr>
            </a:lvl1pPr>
          </a:lstStyle>
          <a:p>
            <a:pPr/>
            <a:r>
              <a:t>Basit, hızlı, yorumlanabilir</a:t>
            </a:r>
          </a:p>
        </p:txBody>
      </p:sp>
      <p:sp>
        <p:nvSpPr>
          <p:cNvPr id="381" name="Rectangle 35"/>
          <p:cNvSpPr/>
          <p:nvPr/>
        </p:nvSpPr>
        <p:spPr>
          <a:xfrm>
            <a:off x="365759" y="4224527"/>
            <a:ext cx="11430001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TextBox 36"/>
          <p:cNvSpPr txBox="1"/>
          <p:nvPr/>
        </p:nvSpPr>
        <p:spPr>
          <a:xfrm>
            <a:off x="502919" y="4288027"/>
            <a:ext cx="210312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C2833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383" name="TextBox 37"/>
          <p:cNvSpPr txBox="1"/>
          <p:nvPr/>
        </p:nvSpPr>
        <p:spPr>
          <a:xfrm>
            <a:off x="2834640" y="4288027"/>
            <a:ext cx="85039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C2833"/>
                </a:solidFill>
              </a:defRPr>
            </a:lvl1pPr>
          </a:lstStyle>
          <a:p>
            <a:pPr/>
            <a:r>
              <a:t>100 karar ağacı — overfitting'e dayanıklı</a:t>
            </a:r>
          </a:p>
        </p:txBody>
      </p:sp>
      <p:sp>
        <p:nvSpPr>
          <p:cNvPr id="384" name="Rectangle 38"/>
          <p:cNvSpPr/>
          <p:nvPr/>
        </p:nvSpPr>
        <p:spPr>
          <a:xfrm>
            <a:off x="365759" y="4700015"/>
            <a:ext cx="11430001" cy="475488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TextBox 39"/>
          <p:cNvSpPr txBox="1"/>
          <p:nvPr/>
        </p:nvSpPr>
        <p:spPr>
          <a:xfrm>
            <a:off x="502919" y="4763515"/>
            <a:ext cx="210312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C2833"/>
                </a:solidFill>
              </a:defRPr>
            </a:lvl1pPr>
          </a:lstStyle>
          <a:p>
            <a:pPr/>
            <a:r>
              <a:t>SVC (RBF kernel)</a:t>
            </a:r>
          </a:p>
        </p:txBody>
      </p:sp>
      <p:sp>
        <p:nvSpPr>
          <p:cNvPr id="386" name="TextBox 40"/>
          <p:cNvSpPr txBox="1"/>
          <p:nvPr/>
        </p:nvSpPr>
        <p:spPr>
          <a:xfrm>
            <a:off x="2834640" y="4763515"/>
            <a:ext cx="85039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C2833"/>
                </a:solidFill>
              </a:defRPr>
            </a:lvl1pPr>
          </a:lstStyle>
          <a:p>
            <a:pPr/>
            <a:r>
              <a:t>Yüksek boyutlu veride etkili sınır belirleme</a:t>
            </a:r>
          </a:p>
        </p:txBody>
      </p:sp>
      <p:sp>
        <p:nvSpPr>
          <p:cNvPr id="387" name="Rectangle 41"/>
          <p:cNvSpPr/>
          <p:nvPr/>
        </p:nvSpPr>
        <p:spPr>
          <a:xfrm>
            <a:off x="365759" y="5230367"/>
            <a:ext cx="11384282" cy="658369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Rectangle 42"/>
          <p:cNvSpPr/>
          <p:nvPr/>
        </p:nvSpPr>
        <p:spPr>
          <a:xfrm>
            <a:off x="365759" y="5230367"/>
            <a:ext cx="64009" cy="658369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43"/>
          <p:cNvSpPr txBox="1"/>
          <p:nvPr/>
        </p:nvSpPr>
        <p:spPr>
          <a:xfrm>
            <a:off x="640079" y="5340096"/>
            <a:ext cx="1097280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C2833"/>
                </a:solidFill>
              </a:defRPr>
            </a:lvl1pPr>
          </a:lstStyle>
          <a:p>
            <a:pPr/>
            <a:r>
              <a:t>Değerlendirme:  StratifiedKFold (5-fold)  ·  StandardScaler  ·  Metrikler: Accuracy · Precision · Recall · F1  ·  ROC (OOF)  ·  Confusion matrix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3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Makine Öğrenmesi — Performans Tablosu</a:t>
            </a:r>
          </a:p>
        </p:txBody>
      </p:sp>
      <p:sp>
        <p:nvSpPr>
          <p:cNvPr id="394" name="TextBox 4"/>
          <p:cNvSpPr txBox="1"/>
          <p:nvPr/>
        </p:nvSpPr>
        <p:spPr>
          <a:xfrm>
            <a:off x="411479" y="685799"/>
            <a:ext cx="113385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A0C4E0"/>
                </a:solidFill>
              </a:defRPr>
            </a:lvl1pPr>
          </a:lstStyle>
          <a:p>
            <a:pPr/>
            <a:r>
              <a:t>5-Fold CV Ortalama ± Std</a:t>
            </a:r>
          </a:p>
        </p:txBody>
      </p:sp>
      <p:sp>
        <p:nvSpPr>
          <p:cNvPr id="395" name="Rectangle 5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TextBox 6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397" name="TextBox 7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98" name="Rectangle 8"/>
          <p:cNvSpPr/>
          <p:nvPr/>
        </p:nvSpPr>
        <p:spPr>
          <a:xfrm>
            <a:off x="256032" y="1078991"/>
            <a:ext cx="1691640" cy="34747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9" name="TextBox 9"/>
          <p:cNvSpPr txBox="1"/>
          <p:nvPr/>
        </p:nvSpPr>
        <p:spPr>
          <a:xfrm>
            <a:off x="301752" y="1078991"/>
            <a:ext cx="160020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Setup</a:t>
            </a:r>
          </a:p>
        </p:txBody>
      </p:sp>
      <p:sp>
        <p:nvSpPr>
          <p:cNvPr id="400" name="Rectangle 10"/>
          <p:cNvSpPr/>
          <p:nvPr/>
        </p:nvSpPr>
        <p:spPr>
          <a:xfrm>
            <a:off x="1984248" y="1078991"/>
            <a:ext cx="1965961" cy="34747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TextBox 11"/>
          <p:cNvSpPr txBox="1"/>
          <p:nvPr/>
        </p:nvSpPr>
        <p:spPr>
          <a:xfrm>
            <a:off x="2029968" y="1078991"/>
            <a:ext cx="18745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402" name="Rectangle 12"/>
          <p:cNvSpPr/>
          <p:nvPr/>
        </p:nvSpPr>
        <p:spPr>
          <a:xfrm>
            <a:off x="3986784" y="1078991"/>
            <a:ext cx="1965961" cy="34747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13"/>
          <p:cNvSpPr txBox="1"/>
          <p:nvPr/>
        </p:nvSpPr>
        <p:spPr>
          <a:xfrm>
            <a:off x="4032504" y="1078991"/>
            <a:ext cx="18745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Accuracy</a:t>
            </a:r>
          </a:p>
        </p:txBody>
      </p:sp>
      <p:sp>
        <p:nvSpPr>
          <p:cNvPr id="404" name="Rectangle 14"/>
          <p:cNvSpPr/>
          <p:nvPr/>
        </p:nvSpPr>
        <p:spPr>
          <a:xfrm>
            <a:off x="5989320" y="1078991"/>
            <a:ext cx="1965961" cy="34747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TextBox 15"/>
          <p:cNvSpPr txBox="1"/>
          <p:nvPr/>
        </p:nvSpPr>
        <p:spPr>
          <a:xfrm>
            <a:off x="6035040" y="1078991"/>
            <a:ext cx="18745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Precision</a:t>
            </a:r>
          </a:p>
        </p:txBody>
      </p:sp>
      <p:sp>
        <p:nvSpPr>
          <p:cNvPr id="406" name="Rectangle 16"/>
          <p:cNvSpPr/>
          <p:nvPr/>
        </p:nvSpPr>
        <p:spPr>
          <a:xfrm>
            <a:off x="7991856" y="1078991"/>
            <a:ext cx="1965961" cy="34747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17"/>
          <p:cNvSpPr txBox="1"/>
          <p:nvPr/>
        </p:nvSpPr>
        <p:spPr>
          <a:xfrm>
            <a:off x="8037576" y="1078991"/>
            <a:ext cx="18745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Recall</a:t>
            </a:r>
          </a:p>
        </p:txBody>
      </p:sp>
      <p:sp>
        <p:nvSpPr>
          <p:cNvPr id="408" name="Rectangle 18"/>
          <p:cNvSpPr/>
          <p:nvPr/>
        </p:nvSpPr>
        <p:spPr>
          <a:xfrm>
            <a:off x="9994392" y="1078991"/>
            <a:ext cx="2194561" cy="34747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TextBox 19"/>
          <p:cNvSpPr txBox="1"/>
          <p:nvPr/>
        </p:nvSpPr>
        <p:spPr>
          <a:xfrm>
            <a:off x="10040112" y="1078991"/>
            <a:ext cx="210312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F1</a:t>
            </a:r>
          </a:p>
        </p:txBody>
      </p:sp>
      <p:sp>
        <p:nvSpPr>
          <p:cNvPr id="410" name="Rectangle 20"/>
          <p:cNvSpPr/>
          <p:nvPr/>
        </p:nvSpPr>
        <p:spPr>
          <a:xfrm>
            <a:off x="256031" y="1426463"/>
            <a:ext cx="64009" cy="493778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Rectangle 21"/>
          <p:cNvSpPr/>
          <p:nvPr/>
        </p:nvSpPr>
        <p:spPr>
          <a:xfrm>
            <a:off x="256032" y="1426463"/>
            <a:ext cx="1691640" cy="493778"/>
          </a:xfrm>
          <a:prstGeom prst="rect">
            <a:avLst/>
          </a:prstGeom>
          <a:solidFill>
            <a:srgbClr val="E8F0F8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TextBox 22"/>
          <p:cNvSpPr txBox="1"/>
          <p:nvPr/>
        </p:nvSpPr>
        <p:spPr>
          <a:xfrm>
            <a:off x="365759" y="1489963"/>
            <a:ext cx="152705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Setup-0</a:t>
            </a:r>
          </a:p>
        </p:txBody>
      </p:sp>
      <p:sp>
        <p:nvSpPr>
          <p:cNvPr id="413" name="Rectangle 23"/>
          <p:cNvSpPr/>
          <p:nvPr/>
        </p:nvSpPr>
        <p:spPr>
          <a:xfrm>
            <a:off x="1984248" y="1426463"/>
            <a:ext cx="1965961" cy="493778"/>
          </a:xfrm>
          <a:prstGeom prst="rect">
            <a:avLst/>
          </a:prstGeom>
          <a:solidFill>
            <a:srgbClr val="E8F0F8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TextBox 24"/>
          <p:cNvSpPr txBox="1"/>
          <p:nvPr/>
        </p:nvSpPr>
        <p:spPr>
          <a:xfrm>
            <a:off x="2093976" y="1489963"/>
            <a:ext cx="1801367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Logistic Reg.</a:t>
            </a:r>
          </a:p>
        </p:txBody>
      </p:sp>
      <p:sp>
        <p:nvSpPr>
          <p:cNvPr id="415" name="Rectangle 25"/>
          <p:cNvSpPr/>
          <p:nvPr/>
        </p:nvSpPr>
        <p:spPr>
          <a:xfrm>
            <a:off x="3986784" y="1426463"/>
            <a:ext cx="1965961" cy="493778"/>
          </a:xfrm>
          <a:prstGeom prst="rect">
            <a:avLst/>
          </a:prstGeom>
          <a:solidFill>
            <a:srgbClr val="E8F0F8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TextBox 26"/>
          <p:cNvSpPr txBox="1"/>
          <p:nvPr/>
        </p:nvSpPr>
        <p:spPr>
          <a:xfrm>
            <a:off x="4096511" y="1489963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0,793 ± 0,061</a:t>
            </a:r>
          </a:p>
        </p:txBody>
      </p:sp>
      <p:sp>
        <p:nvSpPr>
          <p:cNvPr id="417" name="Rectangle 27"/>
          <p:cNvSpPr/>
          <p:nvPr/>
        </p:nvSpPr>
        <p:spPr>
          <a:xfrm>
            <a:off x="5989320" y="1426463"/>
            <a:ext cx="1965961" cy="493778"/>
          </a:xfrm>
          <a:prstGeom prst="rect">
            <a:avLst/>
          </a:prstGeom>
          <a:solidFill>
            <a:srgbClr val="E8F0F8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TextBox 28"/>
          <p:cNvSpPr txBox="1"/>
          <p:nvPr/>
        </p:nvSpPr>
        <p:spPr>
          <a:xfrm>
            <a:off x="6099048" y="1489963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0,803 ± 0,063</a:t>
            </a:r>
          </a:p>
        </p:txBody>
      </p:sp>
      <p:sp>
        <p:nvSpPr>
          <p:cNvPr id="419" name="Rectangle 29"/>
          <p:cNvSpPr/>
          <p:nvPr/>
        </p:nvSpPr>
        <p:spPr>
          <a:xfrm>
            <a:off x="7991856" y="1426463"/>
            <a:ext cx="1965961" cy="493778"/>
          </a:xfrm>
          <a:prstGeom prst="rect">
            <a:avLst/>
          </a:prstGeom>
          <a:solidFill>
            <a:srgbClr val="E8F0F8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TextBox 30"/>
          <p:cNvSpPr txBox="1"/>
          <p:nvPr/>
        </p:nvSpPr>
        <p:spPr>
          <a:xfrm>
            <a:off x="8101584" y="1489963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0,858 ± 0,057</a:t>
            </a:r>
          </a:p>
        </p:txBody>
      </p:sp>
      <p:sp>
        <p:nvSpPr>
          <p:cNvPr id="421" name="Rectangle 31"/>
          <p:cNvSpPr/>
          <p:nvPr/>
        </p:nvSpPr>
        <p:spPr>
          <a:xfrm>
            <a:off x="9994392" y="1426463"/>
            <a:ext cx="2194561" cy="493778"/>
          </a:xfrm>
          <a:prstGeom prst="rect">
            <a:avLst/>
          </a:prstGeom>
          <a:solidFill>
            <a:srgbClr val="E8F0F8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TextBox 32"/>
          <p:cNvSpPr txBox="1"/>
          <p:nvPr/>
        </p:nvSpPr>
        <p:spPr>
          <a:xfrm>
            <a:off x="10104120" y="1489963"/>
            <a:ext cx="20299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0,828 ± 0,045</a:t>
            </a:r>
          </a:p>
        </p:txBody>
      </p:sp>
      <p:sp>
        <p:nvSpPr>
          <p:cNvPr id="423" name="Rectangle 33"/>
          <p:cNvSpPr/>
          <p:nvPr/>
        </p:nvSpPr>
        <p:spPr>
          <a:xfrm>
            <a:off x="256031" y="1920239"/>
            <a:ext cx="64009" cy="493777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Rectangle 34"/>
          <p:cNvSpPr/>
          <p:nvPr/>
        </p:nvSpPr>
        <p:spPr>
          <a:xfrm>
            <a:off x="256032" y="1920239"/>
            <a:ext cx="1691640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Rectangle 36"/>
          <p:cNvSpPr/>
          <p:nvPr/>
        </p:nvSpPr>
        <p:spPr>
          <a:xfrm>
            <a:off x="1984248" y="1920239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37"/>
          <p:cNvSpPr txBox="1"/>
          <p:nvPr/>
        </p:nvSpPr>
        <p:spPr>
          <a:xfrm>
            <a:off x="2093976" y="1983739"/>
            <a:ext cx="1801367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427" name="Rectangle 38"/>
          <p:cNvSpPr/>
          <p:nvPr/>
        </p:nvSpPr>
        <p:spPr>
          <a:xfrm>
            <a:off x="3986784" y="1920239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39"/>
          <p:cNvSpPr txBox="1"/>
          <p:nvPr/>
        </p:nvSpPr>
        <p:spPr>
          <a:xfrm>
            <a:off x="4096511" y="1983739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0,843 ± 0,068</a:t>
            </a:r>
          </a:p>
        </p:txBody>
      </p:sp>
      <p:sp>
        <p:nvSpPr>
          <p:cNvPr id="429" name="Rectangle 40"/>
          <p:cNvSpPr/>
          <p:nvPr/>
        </p:nvSpPr>
        <p:spPr>
          <a:xfrm>
            <a:off x="5989320" y="1920239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TextBox 41"/>
          <p:cNvSpPr txBox="1"/>
          <p:nvPr/>
        </p:nvSpPr>
        <p:spPr>
          <a:xfrm>
            <a:off x="6099048" y="1983739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0,829 ± 0,082</a:t>
            </a:r>
          </a:p>
        </p:txBody>
      </p:sp>
      <p:sp>
        <p:nvSpPr>
          <p:cNvPr id="431" name="Rectangle 42"/>
          <p:cNvSpPr/>
          <p:nvPr/>
        </p:nvSpPr>
        <p:spPr>
          <a:xfrm>
            <a:off x="7991856" y="1920239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TextBox 43"/>
          <p:cNvSpPr txBox="1"/>
          <p:nvPr/>
        </p:nvSpPr>
        <p:spPr>
          <a:xfrm>
            <a:off x="8101584" y="1983739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0,935 ± 0,040</a:t>
            </a:r>
          </a:p>
        </p:txBody>
      </p:sp>
      <p:sp>
        <p:nvSpPr>
          <p:cNvPr id="433" name="Rectangle 44"/>
          <p:cNvSpPr/>
          <p:nvPr/>
        </p:nvSpPr>
        <p:spPr>
          <a:xfrm>
            <a:off x="9994392" y="1920239"/>
            <a:ext cx="21945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TextBox 45"/>
          <p:cNvSpPr txBox="1"/>
          <p:nvPr/>
        </p:nvSpPr>
        <p:spPr>
          <a:xfrm>
            <a:off x="10104120" y="1983739"/>
            <a:ext cx="20299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0,876 ± 0,046</a:t>
            </a:r>
          </a:p>
        </p:txBody>
      </p:sp>
      <p:sp>
        <p:nvSpPr>
          <p:cNvPr id="435" name="Rectangle 46"/>
          <p:cNvSpPr/>
          <p:nvPr/>
        </p:nvSpPr>
        <p:spPr>
          <a:xfrm>
            <a:off x="256031" y="2414016"/>
            <a:ext cx="64009" cy="493777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Rectangle 47"/>
          <p:cNvSpPr/>
          <p:nvPr/>
        </p:nvSpPr>
        <p:spPr>
          <a:xfrm>
            <a:off x="256032" y="2414016"/>
            <a:ext cx="1691640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Rectangle 49"/>
          <p:cNvSpPr/>
          <p:nvPr/>
        </p:nvSpPr>
        <p:spPr>
          <a:xfrm>
            <a:off x="1984248" y="2414016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TextBox 50"/>
          <p:cNvSpPr txBox="1"/>
          <p:nvPr/>
        </p:nvSpPr>
        <p:spPr>
          <a:xfrm>
            <a:off x="2093976" y="2477516"/>
            <a:ext cx="1801367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SVC</a:t>
            </a:r>
          </a:p>
        </p:txBody>
      </p:sp>
      <p:sp>
        <p:nvSpPr>
          <p:cNvPr id="439" name="Rectangle 51"/>
          <p:cNvSpPr/>
          <p:nvPr/>
        </p:nvSpPr>
        <p:spPr>
          <a:xfrm>
            <a:off x="3986784" y="2414016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52"/>
          <p:cNvSpPr txBox="1"/>
          <p:nvPr/>
        </p:nvSpPr>
        <p:spPr>
          <a:xfrm>
            <a:off x="4096511" y="2477516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0,837 ± 0,045</a:t>
            </a:r>
          </a:p>
        </p:txBody>
      </p:sp>
      <p:sp>
        <p:nvSpPr>
          <p:cNvPr id="441" name="Rectangle 53"/>
          <p:cNvSpPr/>
          <p:nvPr/>
        </p:nvSpPr>
        <p:spPr>
          <a:xfrm>
            <a:off x="5989320" y="2414016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TextBox 54"/>
          <p:cNvSpPr txBox="1"/>
          <p:nvPr/>
        </p:nvSpPr>
        <p:spPr>
          <a:xfrm>
            <a:off x="6099048" y="2477516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0,815 ± 0,048</a:t>
            </a:r>
          </a:p>
        </p:txBody>
      </p:sp>
      <p:sp>
        <p:nvSpPr>
          <p:cNvPr id="443" name="Rectangle 55"/>
          <p:cNvSpPr/>
          <p:nvPr/>
        </p:nvSpPr>
        <p:spPr>
          <a:xfrm>
            <a:off x="7991856" y="2414016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TextBox 56"/>
          <p:cNvSpPr txBox="1"/>
          <p:nvPr/>
        </p:nvSpPr>
        <p:spPr>
          <a:xfrm>
            <a:off x="8101584" y="2477516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0,935 ± 0,040</a:t>
            </a:r>
          </a:p>
        </p:txBody>
      </p:sp>
      <p:sp>
        <p:nvSpPr>
          <p:cNvPr id="445" name="Rectangle 57"/>
          <p:cNvSpPr/>
          <p:nvPr/>
        </p:nvSpPr>
        <p:spPr>
          <a:xfrm>
            <a:off x="9994392" y="2414016"/>
            <a:ext cx="21945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TextBox 58"/>
          <p:cNvSpPr txBox="1"/>
          <p:nvPr/>
        </p:nvSpPr>
        <p:spPr>
          <a:xfrm>
            <a:off x="10104120" y="2477516"/>
            <a:ext cx="20299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0,869 ± 0,032</a:t>
            </a:r>
          </a:p>
        </p:txBody>
      </p:sp>
      <p:sp>
        <p:nvSpPr>
          <p:cNvPr id="447" name="Rectangle 59"/>
          <p:cNvSpPr/>
          <p:nvPr/>
        </p:nvSpPr>
        <p:spPr>
          <a:xfrm>
            <a:off x="256031" y="2907792"/>
            <a:ext cx="64009" cy="493777"/>
          </a:xfrm>
          <a:prstGeom prst="rect">
            <a:avLst/>
          </a:prstGeom>
          <a:solidFill>
            <a:srgbClr val="1A7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Rectangle 60"/>
          <p:cNvSpPr/>
          <p:nvPr/>
        </p:nvSpPr>
        <p:spPr>
          <a:xfrm>
            <a:off x="256032" y="2907792"/>
            <a:ext cx="1691640" cy="493777"/>
          </a:xfrm>
          <a:prstGeom prst="rect">
            <a:avLst/>
          </a:prstGeom>
          <a:solidFill>
            <a:srgbClr val="E8F5ED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TextBox 61"/>
          <p:cNvSpPr txBox="1"/>
          <p:nvPr/>
        </p:nvSpPr>
        <p:spPr>
          <a:xfrm>
            <a:off x="365759" y="2971292"/>
            <a:ext cx="152705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Setup-1</a:t>
            </a:r>
          </a:p>
        </p:txBody>
      </p:sp>
      <p:sp>
        <p:nvSpPr>
          <p:cNvPr id="450" name="Rectangle 62"/>
          <p:cNvSpPr/>
          <p:nvPr/>
        </p:nvSpPr>
        <p:spPr>
          <a:xfrm>
            <a:off x="1984248" y="2907792"/>
            <a:ext cx="1965961" cy="493777"/>
          </a:xfrm>
          <a:prstGeom prst="rect">
            <a:avLst/>
          </a:prstGeom>
          <a:solidFill>
            <a:srgbClr val="E8F5ED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1" name="TextBox 63"/>
          <p:cNvSpPr txBox="1"/>
          <p:nvPr/>
        </p:nvSpPr>
        <p:spPr>
          <a:xfrm>
            <a:off x="2093976" y="2971292"/>
            <a:ext cx="1801367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Logistic Reg.</a:t>
            </a:r>
          </a:p>
        </p:txBody>
      </p:sp>
      <p:sp>
        <p:nvSpPr>
          <p:cNvPr id="452" name="Rectangle 64"/>
          <p:cNvSpPr/>
          <p:nvPr/>
        </p:nvSpPr>
        <p:spPr>
          <a:xfrm>
            <a:off x="3986784" y="2907792"/>
            <a:ext cx="1965961" cy="493777"/>
          </a:xfrm>
          <a:prstGeom prst="rect">
            <a:avLst/>
          </a:prstGeom>
          <a:solidFill>
            <a:srgbClr val="E8F5ED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TextBox 65"/>
          <p:cNvSpPr txBox="1"/>
          <p:nvPr/>
        </p:nvSpPr>
        <p:spPr>
          <a:xfrm>
            <a:off x="4096511" y="2971292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0,761 ± 0,080</a:t>
            </a:r>
          </a:p>
        </p:txBody>
      </p:sp>
      <p:sp>
        <p:nvSpPr>
          <p:cNvPr id="454" name="Rectangle 66"/>
          <p:cNvSpPr/>
          <p:nvPr/>
        </p:nvSpPr>
        <p:spPr>
          <a:xfrm>
            <a:off x="5989320" y="2907792"/>
            <a:ext cx="1965961" cy="493777"/>
          </a:xfrm>
          <a:prstGeom prst="rect">
            <a:avLst/>
          </a:prstGeom>
          <a:solidFill>
            <a:srgbClr val="E8F5ED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5" name="TextBox 67"/>
          <p:cNvSpPr txBox="1"/>
          <p:nvPr/>
        </p:nvSpPr>
        <p:spPr>
          <a:xfrm>
            <a:off x="6099048" y="2971292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0,775 ± 0,077</a:t>
            </a:r>
          </a:p>
        </p:txBody>
      </p:sp>
      <p:sp>
        <p:nvSpPr>
          <p:cNvPr id="456" name="Rectangle 68"/>
          <p:cNvSpPr/>
          <p:nvPr/>
        </p:nvSpPr>
        <p:spPr>
          <a:xfrm>
            <a:off x="7991856" y="2907792"/>
            <a:ext cx="1965961" cy="493777"/>
          </a:xfrm>
          <a:prstGeom prst="rect">
            <a:avLst/>
          </a:prstGeom>
          <a:solidFill>
            <a:srgbClr val="E8F5ED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TextBox 69"/>
          <p:cNvSpPr txBox="1"/>
          <p:nvPr/>
        </p:nvSpPr>
        <p:spPr>
          <a:xfrm>
            <a:off x="8101584" y="2971292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0,836 ± 0,092</a:t>
            </a:r>
          </a:p>
        </p:txBody>
      </p:sp>
      <p:sp>
        <p:nvSpPr>
          <p:cNvPr id="458" name="Rectangle 70"/>
          <p:cNvSpPr/>
          <p:nvPr/>
        </p:nvSpPr>
        <p:spPr>
          <a:xfrm>
            <a:off x="9994392" y="2907792"/>
            <a:ext cx="2194561" cy="493777"/>
          </a:xfrm>
          <a:prstGeom prst="rect">
            <a:avLst/>
          </a:prstGeom>
          <a:solidFill>
            <a:srgbClr val="E8F5ED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TextBox 71"/>
          <p:cNvSpPr txBox="1"/>
          <p:nvPr/>
        </p:nvSpPr>
        <p:spPr>
          <a:xfrm>
            <a:off x="10104120" y="2971292"/>
            <a:ext cx="20299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0,801 ± 0,067</a:t>
            </a:r>
          </a:p>
        </p:txBody>
      </p:sp>
      <p:sp>
        <p:nvSpPr>
          <p:cNvPr id="460" name="Rectangle 72"/>
          <p:cNvSpPr/>
          <p:nvPr/>
        </p:nvSpPr>
        <p:spPr>
          <a:xfrm>
            <a:off x="256031" y="3401567"/>
            <a:ext cx="64009" cy="493777"/>
          </a:xfrm>
          <a:prstGeom prst="rect">
            <a:avLst/>
          </a:prstGeom>
          <a:solidFill>
            <a:srgbClr val="1A7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1" name="Rectangle 73"/>
          <p:cNvSpPr/>
          <p:nvPr/>
        </p:nvSpPr>
        <p:spPr>
          <a:xfrm>
            <a:off x="256032" y="3401567"/>
            <a:ext cx="1691640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Rectangle 75"/>
          <p:cNvSpPr/>
          <p:nvPr/>
        </p:nvSpPr>
        <p:spPr>
          <a:xfrm>
            <a:off x="1984248" y="3401567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TextBox 76"/>
          <p:cNvSpPr txBox="1"/>
          <p:nvPr/>
        </p:nvSpPr>
        <p:spPr>
          <a:xfrm>
            <a:off x="2093976" y="3465067"/>
            <a:ext cx="1801367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464" name="Rectangle 77"/>
          <p:cNvSpPr/>
          <p:nvPr/>
        </p:nvSpPr>
        <p:spPr>
          <a:xfrm>
            <a:off x="3986784" y="3401567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TextBox 78"/>
          <p:cNvSpPr txBox="1"/>
          <p:nvPr/>
        </p:nvSpPr>
        <p:spPr>
          <a:xfrm>
            <a:off x="4096511" y="3465067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0,849 ± 0,053</a:t>
            </a:r>
          </a:p>
        </p:txBody>
      </p:sp>
      <p:sp>
        <p:nvSpPr>
          <p:cNvPr id="466" name="Rectangle 79"/>
          <p:cNvSpPr/>
          <p:nvPr/>
        </p:nvSpPr>
        <p:spPr>
          <a:xfrm>
            <a:off x="5989320" y="3401567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TextBox 80"/>
          <p:cNvSpPr txBox="1"/>
          <p:nvPr/>
        </p:nvSpPr>
        <p:spPr>
          <a:xfrm>
            <a:off x="6099048" y="3465067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0,846 ± 0,081</a:t>
            </a:r>
          </a:p>
        </p:txBody>
      </p:sp>
      <p:sp>
        <p:nvSpPr>
          <p:cNvPr id="468" name="Rectangle 81"/>
          <p:cNvSpPr/>
          <p:nvPr/>
        </p:nvSpPr>
        <p:spPr>
          <a:xfrm>
            <a:off x="7991856" y="3401567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82"/>
          <p:cNvSpPr txBox="1"/>
          <p:nvPr/>
        </p:nvSpPr>
        <p:spPr>
          <a:xfrm>
            <a:off x="8101584" y="3465067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0,923 ± 0,066</a:t>
            </a:r>
          </a:p>
        </p:txBody>
      </p:sp>
      <p:sp>
        <p:nvSpPr>
          <p:cNvPr id="470" name="Rectangle 83"/>
          <p:cNvSpPr/>
          <p:nvPr/>
        </p:nvSpPr>
        <p:spPr>
          <a:xfrm>
            <a:off x="9994392" y="3401567"/>
            <a:ext cx="21945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84"/>
          <p:cNvSpPr txBox="1"/>
          <p:nvPr/>
        </p:nvSpPr>
        <p:spPr>
          <a:xfrm>
            <a:off x="10104120" y="3465067"/>
            <a:ext cx="20299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0,878 ± 0,036</a:t>
            </a:r>
          </a:p>
        </p:txBody>
      </p:sp>
      <p:sp>
        <p:nvSpPr>
          <p:cNvPr id="472" name="Rectangle 85"/>
          <p:cNvSpPr/>
          <p:nvPr/>
        </p:nvSpPr>
        <p:spPr>
          <a:xfrm>
            <a:off x="256031" y="3895344"/>
            <a:ext cx="64009" cy="493777"/>
          </a:xfrm>
          <a:prstGeom prst="rect">
            <a:avLst/>
          </a:prstGeom>
          <a:solidFill>
            <a:srgbClr val="1A7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Rectangle 86"/>
          <p:cNvSpPr/>
          <p:nvPr/>
        </p:nvSpPr>
        <p:spPr>
          <a:xfrm>
            <a:off x="256032" y="3895344"/>
            <a:ext cx="1691640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Rectangle 88"/>
          <p:cNvSpPr/>
          <p:nvPr/>
        </p:nvSpPr>
        <p:spPr>
          <a:xfrm>
            <a:off x="1984248" y="3895344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TextBox 89"/>
          <p:cNvSpPr txBox="1"/>
          <p:nvPr/>
        </p:nvSpPr>
        <p:spPr>
          <a:xfrm>
            <a:off x="2093976" y="3958844"/>
            <a:ext cx="1801367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SVC</a:t>
            </a:r>
          </a:p>
        </p:txBody>
      </p:sp>
      <p:sp>
        <p:nvSpPr>
          <p:cNvPr id="476" name="Rectangle 90"/>
          <p:cNvSpPr/>
          <p:nvPr/>
        </p:nvSpPr>
        <p:spPr>
          <a:xfrm>
            <a:off x="3986784" y="3895344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7" name="TextBox 91"/>
          <p:cNvSpPr txBox="1"/>
          <p:nvPr/>
        </p:nvSpPr>
        <p:spPr>
          <a:xfrm>
            <a:off x="4096511" y="3958844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0,811 ± 0,084</a:t>
            </a:r>
          </a:p>
        </p:txBody>
      </p:sp>
      <p:sp>
        <p:nvSpPr>
          <p:cNvPr id="478" name="Rectangle 92"/>
          <p:cNvSpPr/>
          <p:nvPr/>
        </p:nvSpPr>
        <p:spPr>
          <a:xfrm>
            <a:off x="5989320" y="3895344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TextBox 93"/>
          <p:cNvSpPr txBox="1"/>
          <p:nvPr/>
        </p:nvSpPr>
        <p:spPr>
          <a:xfrm>
            <a:off x="6099048" y="3958844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0,805 ± 0,082</a:t>
            </a:r>
          </a:p>
        </p:txBody>
      </p:sp>
      <p:sp>
        <p:nvSpPr>
          <p:cNvPr id="480" name="Rectangle 94"/>
          <p:cNvSpPr/>
          <p:nvPr/>
        </p:nvSpPr>
        <p:spPr>
          <a:xfrm>
            <a:off x="7991856" y="3895344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1" name="TextBox 95"/>
          <p:cNvSpPr txBox="1"/>
          <p:nvPr/>
        </p:nvSpPr>
        <p:spPr>
          <a:xfrm>
            <a:off x="8101584" y="3958844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0,903 ± 0,079</a:t>
            </a:r>
          </a:p>
        </p:txBody>
      </p:sp>
      <p:sp>
        <p:nvSpPr>
          <p:cNvPr id="482" name="Rectangle 96"/>
          <p:cNvSpPr/>
          <p:nvPr/>
        </p:nvSpPr>
        <p:spPr>
          <a:xfrm>
            <a:off x="9994392" y="3895344"/>
            <a:ext cx="21945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TextBox 97"/>
          <p:cNvSpPr txBox="1"/>
          <p:nvPr/>
        </p:nvSpPr>
        <p:spPr>
          <a:xfrm>
            <a:off x="10104120" y="3958844"/>
            <a:ext cx="20299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0,848 ± 0,063</a:t>
            </a:r>
          </a:p>
        </p:txBody>
      </p:sp>
      <p:sp>
        <p:nvSpPr>
          <p:cNvPr id="484" name="Rectangle 98"/>
          <p:cNvSpPr/>
          <p:nvPr/>
        </p:nvSpPr>
        <p:spPr>
          <a:xfrm>
            <a:off x="256031" y="4389120"/>
            <a:ext cx="64009" cy="493777"/>
          </a:xfrm>
          <a:prstGeom prst="rect">
            <a:avLst/>
          </a:prstGeom>
          <a:solidFill>
            <a:srgbClr val="BB222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Rectangle 99"/>
          <p:cNvSpPr/>
          <p:nvPr/>
        </p:nvSpPr>
        <p:spPr>
          <a:xfrm>
            <a:off x="256032" y="4389120"/>
            <a:ext cx="1691640" cy="493777"/>
          </a:xfrm>
          <a:prstGeom prst="rect">
            <a:avLst/>
          </a:prstGeom>
          <a:solidFill>
            <a:srgbClr val="FFF0E0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TextBox 100"/>
          <p:cNvSpPr txBox="1"/>
          <p:nvPr/>
        </p:nvSpPr>
        <p:spPr>
          <a:xfrm>
            <a:off x="365759" y="4452620"/>
            <a:ext cx="1527050" cy="255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BB222F"/>
                </a:solidFill>
              </a:defRPr>
            </a:lvl1pPr>
          </a:lstStyle>
          <a:p>
            <a:pPr/>
            <a:r>
              <a:t>Setup-2 ★</a:t>
            </a:r>
          </a:p>
        </p:txBody>
      </p:sp>
      <p:sp>
        <p:nvSpPr>
          <p:cNvPr id="487" name="Rectangle 101"/>
          <p:cNvSpPr/>
          <p:nvPr/>
        </p:nvSpPr>
        <p:spPr>
          <a:xfrm>
            <a:off x="1984248" y="4389120"/>
            <a:ext cx="1965961" cy="493777"/>
          </a:xfrm>
          <a:prstGeom prst="rect">
            <a:avLst/>
          </a:prstGeom>
          <a:solidFill>
            <a:srgbClr val="FFF0E0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8" name="TextBox 102"/>
          <p:cNvSpPr txBox="1"/>
          <p:nvPr/>
        </p:nvSpPr>
        <p:spPr>
          <a:xfrm>
            <a:off x="2093976" y="4452620"/>
            <a:ext cx="1801367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BB222F"/>
                </a:solidFill>
              </a:defRPr>
            </a:lvl1pPr>
          </a:lstStyle>
          <a:p>
            <a:pPr/>
            <a:r>
              <a:t>Logistic Reg.</a:t>
            </a:r>
          </a:p>
        </p:txBody>
      </p:sp>
      <p:sp>
        <p:nvSpPr>
          <p:cNvPr id="489" name="Rectangle 103"/>
          <p:cNvSpPr/>
          <p:nvPr/>
        </p:nvSpPr>
        <p:spPr>
          <a:xfrm>
            <a:off x="3986784" y="4389120"/>
            <a:ext cx="1965961" cy="493777"/>
          </a:xfrm>
          <a:prstGeom prst="rect">
            <a:avLst/>
          </a:prstGeom>
          <a:solidFill>
            <a:srgbClr val="FFF0E0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TextBox 104"/>
          <p:cNvSpPr txBox="1"/>
          <p:nvPr/>
        </p:nvSpPr>
        <p:spPr>
          <a:xfrm>
            <a:off x="4096511" y="4452620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BB222F"/>
                </a:solidFill>
              </a:defRPr>
            </a:lvl1pPr>
          </a:lstStyle>
          <a:p>
            <a:pPr/>
            <a:r>
              <a:t>0,893 ± 0,033</a:t>
            </a:r>
          </a:p>
        </p:txBody>
      </p:sp>
      <p:sp>
        <p:nvSpPr>
          <p:cNvPr id="491" name="Rectangle 105"/>
          <p:cNvSpPr/>
          <p:nvPr/>
        </p:nvSpPr>
        <p:spPr>
          <a:xfrm>
            <a:off x="5989320" y="4389120"/>
            <a:ext cx="1965961" cy="493777"/>
          </a:xfrm>
          <a:prstGeom prst="rect">
            <a:avLst/>
          </a:prstGeom>
          <a:solidFill>
            <a:srgbClr val="FFF0E0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2" name="TextBox 106"/>
          <p:cNvSpPr txBox="1"/>
          <p:nvPr/>
        </p:nvSpPr>
        <p:spPr>
          <a:xfrm>
            <a:off x="6099048" y="4452620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BB222F"/>
                </a:solidFill>
              </a:defRPr>
            </a:lvl1pPr>
          </a:lstStyle>
          <a:p>
            <a:pPr/>
            <a:r>
              <a:t>0,898 ± 0,037</a:t>
            </a:r>
          </a:p>
        </p:txBody>
      </p:sp>
      <p:sp>
        <p:nvSpPr>
          <p:cNvPr id="493" name="Rectangle 107"/>
          <p:cNvSpPr/>
          <p:nvPr/>
        </p:nvSpPr>
        <p:spPr>
          <a:xfrm>
            <a:off x="7991856" y="4389120"/>
            <a:ext cx="1965961" cy="493777"/>
          </a:xfrm>
          <a:prstGeom prst="rect">
            <a:avLst/>
          </a:prstGeom>
          <a:solidFill>
            <a:srgbClr val="FFF0E0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108"/>
          <p:cNvSpPr txBox="1"/>
          <p:nvPr/>
        </p:nvSpPr>
        <p:spPr>
          <a:xfrm>
            <a:off x="8101584" y="4452620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BB222F"/>
                </a:solidFill>
              </a:defRPr>
            </a:lvl1pPr>
          </a:lstStyle>
          <a:p>
            <a:pPr/>
            <a:r>
              <a:t>0,923 ± 0,076</a:t>
            </a:r>
          </a:p>
        </p:txBody>
      </p:sp>
      <p:sp>
        <p:nvSpPr>
          <p:cNvPr id="495" name="Rectangle 109"/>
          <p:cNvSpPr/>
          <p:nvPr/>
        </p:nvSpPr>
        <p:spPr>
          <a:xfrm>
            <a:off x="9994392" y="4389120"/>
            <a:ext cx="2194561" cy="493777"/>
          </a:xfrm>
          <a:prstGeom prst="rect">
            <a:avLst/>
          </a:prstGeom>
          <a:solidFill>
            <a:srgbClr val="FFF0E0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TextBox 110"/>
          <p:cNvSpPr txBox="1"/>
          <p:nvPr/>
        </p:nvSpPr>
        <p:spPr>
          <a:xfrm>
            <a:off x="10104120" y="4452620"/>
            <a:ext cx="20299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100">
                <a:solidFill>
                  <a:srgbClr val="BB222F"/>
                </a:solidFill>
              </a:defRPr>
            </a:lvl1pPr>
          </a:lstStyle>
          <a:p>
            <a:pPr/>
            <a:r>
              <a:t>0,908 ± 0,033</a:t>
            </a:r>
          </a:p>
        </p:txBody>
      </p:sp>
      <p:sp>
        <p:nvSpPr>
          <p:cNvPr id="497" name="Rectangle 111"/>
          <p:cNvSpPr/>
          <p:nvPr/>
        </p:nvSpPr>
        <p:spPr>
          <a:xfrm>
            <a:off x="256031" y="4882896"/>
            <a:ext cx="64009" cy="493777"/>
          </a:xfrm>
          <a:prstGeom prst="rect">
            <a:avLst/>
          </a:prstGeom>
          <a:solidFill>
            <a:srgbClr val="BB222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Rectangle 112"/>
          <p:cNvSpPr/>
          <p:nvPr/>
        </p:nvSpPr>
        <p:spPr>
          <a:xfrm>
            <a:off x="256032" y="4882896"/>
            <a:ext cx="1691640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Rectangle 114"/>
          <p:cNvSpPr/>
          <p:nvPr/>
        </p:nvSpPr>
        <p:spPr>
          <a:xfrm>
            <a:off x="1984248" y="4882896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TextBox 115"/>
          <p:cNvSpPr txBox="1"/>
          <p:nvPr/>
        </p:nvSpPr>
        <p:spPr>
          <a:xfrm>
            <a:off x="2093976" y="4946396"/>
            <a:ext cx="1801367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501" name="Rectangle 116"/>
          <p:cNvSpPr/>
          <p:nvPr/>
        </p:nvSpPr>
        <p:spPr>
          <a:xfrm>
            <a:off x="3986784" y="4882896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TextBox 117"/>
          <p:cNvSpPr txBox="1"/>
          <p:nvPr/>
        </p:nvSpPr>
        <p:spPr>
          <a:xfrm>
            <a:off x="4096511" y="4946396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0,861 ± 0,066</a:t>
            </a:r>
          </a:p>
        </p:txBody>
      </p:sp>
      <p:sp>
        <p:nvSpPr>
          <p:cNvPr id="503" name="Rectangle 118"/>
          <p:cNvSpPr/>
          <p:nvPr/>
        </p:nvSpPr>
        <p:spPr>
          <a:xfrm>
            <a:off x="5989320" y="4882896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TextBox 119"/>
          <p:cNvSpPr txBox="1"/>
          <p:nvPr/>
        </p:nvSpPr>
        <p:spPr>
          <a:xfrm>
            <a:off x="6099048" y="4946396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0,883 ± 0,042</a:t>
            </a:r>
          </a:p>
        </p:txBody>
      </p:sp>
      <p:sp>
        <p:nvSpPr>
          <p:cNvPr id="505" name="Rectangle 120"/>
          <p:cNvSpPr/>
          <p:nvPr/>
        </p:nvSpPr>
        <p:spPr>
          <a:xfrm>
            <a:off x="7991856" y="4882896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TextBox 121"/>
          <p:cNvSpPr txBox="1"/>
          <p:nvPr/>
        </p:nvSpPr>
        <p:spPr>
          <a:xfrm>
            <a:off x="8101584" y="4946396"/>
            <a:ext cx="18013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0,879 ± 0,113</a:t>
            </a:r>
          </a:p>
        </p:txBody>
      </p:sp>
      <p:sp>
        <p:nvSpPr>
          <p:cNvPr id="507" name="Rectangle 122"/>
          <p:cNvSpPr/>
          <p:nvPr/>
        </p:nvSpPr>
        <p:spPr>
          <a:xfrm>
            <a:off x="9994392" y="4882896"/>
            <a:ext cx="21945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8" name="TextBox 123"/>
          <p:cNvSpPr txBox="1"/>
          <p:nvPr/>
        </p:nvSpPr>
        <p:spPr>
          <a:xfrm>
            <a:off x="10104120" y="4946396"/>
            <a:ext cx="202996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0,877 ± 0,063</a:t>
            </a:r>
          </a:p>
        </p:txBody>
      </p:sp>
      <p:sp>
        <p:nvSpPr>
          <p:cNvPr id="509" name="Rectangle 124"/>
          <p:cNvSpPr/>
          <p:nvPr/>
        </p:nvSpPr>
        <p:spPr>
          <a:xfrm>
            <a:off x="256031" y="5376671"/>
            <a:ext cx="64009" cy="493777"/>
          </a:xfrm>
          <a:prstGeom prst="rect">
            <a:avLst/>
          </a:prstGeom>
          <a:solidFill>
            <a:srgbClr val="BB222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0" name="Rectangle 125"/>
          <p:cNvSpPr/>
          <p:nvPr/>
        </p:nvSpPr>
        <p:spPr>
          <a:xfrm>
            <a:off x="256032" y="5376671"/>
            <a:ext cx="1691640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1" name="Rectangle 127"/>
          <p:cNvSpPr/>
          <p:nvPr/>
        </p:nvSpPr>
        <p:spPr>
          <a:xfrm>
            <a:off x="1984248" y="5376671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TextBox 128"/>
          <p:cNvSpPr txBox="1"/>
          <p:nvPr/>
        </p:nvSpPr>
        <p:spPr>
          <a:xfrm>
            <a:off x="2093976" y="5440171"/>
            <a:ext cx="1801367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SVC</a:t>
            </a:r>
          </a:p>
        </p:txBody>
      </p:sp>
      <p:sp>
        <p:nvSpPr>
          <p:cNvPr id="513" name="Rectangle 129"/>
          <p:cNvSpPr/>
          <p:nvPr/>
        </p:nvSpPr>
        <p:spPr>
          <a:xfrm>
            <a:off x="3986784" y="5376671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4" name="TextBox 130"/>
          <p:cNvSpPr txBox="1"/>
          <p:nvPr/>
        </p:nvSpPr>
        <p:spPr>
          <a:xfrm>
            <a:off x="4096511" y="5440171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0,880 ± 0,061</a:t>
            </a:r>
          </a:p>
        </p:txBody>
      </p:sp>
      <p:sp>
        <p:nvSpPr>
          <p:cNvPr id="515" name="Rectangle 131"/>
          <p:cNvSpPr/>
          <p:nvPr/>
        </p:nvSpPr>
        <p:spPr>
          <a:xfrm>
            <a:off x="5989320" y="5376671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6" name="TextBox 132"/>
          <p:cNvSpPr txBox="1"/>
          <p:nvPr/>
        </p:nvSpPr>
        <p:spPr>
          <a:xfrm>
            <a:off x="6099048" y="5440171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0,890 ± 0,061</a:t>
            </a:r>
          </a:p>
        </p:txBody>
      </p:sp>
      <p:sp>
        <p:nvSpPr>
          <p:cNvPr id="517" name="Rectangle 133"/>
          <p:cNvSpPr/>
          <p:nvPr/>
        </p:nvSpPr>
        <p:spPr>
          <a:xfrm>
            <a:off x="7991856" y="5376671"/>
            <a:ext cx="19659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TextBox 134"/>
          <p:cNvSpPr txBox="1"/>
          <p:nvPr/>
        </p:nvSpPr>
        <p:spPr>
          <a:xfrm>
            <a:off x="8101584" y="5440171"/>
            <a:ext cx="18013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0,912 ± 0,083</a:t>
            </a:r>
          </a:p>
        </p:txBody>
      </p:sp>
      <p:sp>
        <p:nvSpPr>
          <p:cNvPr id="519" name="Rectangle 135"/>
          <p:cNvSpPr/>
          <p:nvPr/>
        </p:nvSpPr>
        <p:spPr>
          <a:xfrm>
            <a:off x="9994392" y="5376671"/>
            <a:ext cx="2194561" cy="493777"/>
          </a:xfrm>
          <a:prstGeom prst="rect">
            <a:avLst/>
          </a:prstGeom>
          <a:solidFill>
            <a:srgbClr val="FFFFFF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0" name="TextBox 136"/>
          <p:cNvSpPr txBox="1"/>
          <p:nvPr/>
        </p:nvSpPr>
        <p:spPr>
          <a:xfrm>
            <a:off x="10104120" y="5440171"/>
            <a:ext cx="2029968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C2833"/>
                </a:solidFill>
              </a:defRPr>
            </a:lvl1pPr>
          </a:lstStyle>
          <a:p>
            <a:pPr/>
            <a:r>
              <a:t>0,898 ± 0,050</a:t>
            </a:r>
          </a:p>
        </p:txBody>
      </p:sp>
      <p:sp>
        <p:nvSpPr>
          <p:cNvPr id="521" name="TextBox 137"/>
          <p:cNvSpPr txBox="1"/>
          <p:nvPr/>
        </p:nvSpPr>
        <p:spPr>
          <a:xfrm>
            <a:off x="301751" y="5943599"/>
            <a:ext cx="11567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BB222F"/>
                </a:solidFill>
              </a:defRPr>
            </a:lvl1pPr>
          </a:lstStyle>
          <a:p>
            <a:pPr/>
            <a:r>
              <a:t>En yüksek: Setup-2 + Logistic Regression  →  Accuracy %89,3  ·  F1 %90,8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5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ROC Eğrileri ve Confusion Matrix</a:t>
            </a:r>
          </a:p>
        </p:txBody>
      </p:sp>
      <p:sp>
        <p:nvSpPr>
          <p:cNvPr id="526" name="Rectangle 4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TextBox 5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528" name="TextBox 6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29" name="TextBox 7"/>
          <p:cNvSpPr txBox="1"/>
          <p:nvPr/>
        </p:nvSpPr>
        <p:spPr>
          <a:xfrm>
            <a:off x="320039" y="1115567"/>
            <a:ext cx="5669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BB222F"/>
                </a:solidFill>
              </a:defRPr>
            </a:lvl1pPr>
          </a:lstStyle>
          <a:p>
            <a:pPr/>
            <a:r>
              <a:t>Setup-2 · Logistic Regression  (en yüksek accuracy)</a:t>
            </a:r>
          </a:p>
        </p:txBody>
      </p:sp>
      <p:pic>
        <p:nvPicPr>
          <p:cNvPr id="530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417319"/>
            <a:ext cx="2834640" cy="2514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1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46120" y="1417319"/>
            <a:ext cx="2788921" cy="2514601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TextBox 10"/>
          <p:cNvSpPr txBox="1"/>
          <p:nvPr/>
        </p:nvSpPr>
        <p:spPr>
          <a:xfrm>
            <a:off x="320039" y="4160520"/>
            <a:ext cx="566928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1A7545"/>
                </a:solidFill>
              </a:defRPr>
            </a:lvl1pPr>
          </a:lstStyle>
          <a:p>
            <a:pPr/>
            <a:r>
              <a:t>Setup-1 · Random Forest  (biyolojik en iyi)</a:t>
            </a:r>
          </a:p>
        </p:txBody>
      </p:sp>
      <p:pic>
        <p:nvPicPr>
          <p:cNvPr id="533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4320" y="4462271"/>
            <a:ext cx="2834640" cy="1920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4" name="Picture 12" descr="Picture 1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246120" y="4462271"/>
            <a:ext cx="2788921" cy="1920241"/>
          </a:xfrm>
          <a:prstGeom prst="rect">
            <a:avLst/>
          </a:prstGeom>
          <a:ln w="12700">
            <a:miter lim="400000"/>
          </a:ln>
        </p:spPr>
      </p:pic>
      <p:sp>
        <p:nvSpPr>
          <p:cNvPr id="535" name="Rectangle 14"/>
          <p:cNvSpPr/>
          <p:nvPr/>
        </p:nvSpPr>
        <p:spPr>
          <a:xfrm>
            <a:off x="6400800" y="1463039"/>
            <a:ext cx="5486400" cy="1270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6" name="TextBox 15"/>
          <p:cNvSpPr txBox="1"/>
          <p:nvPr/>
        </p:nvSpPr>
        <p:spPr>
          <a:xfrm>
            <a:off x="6537960" y="1572767"/>
            <a:ext cx="5257801" cy="290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Setup-2 + LR   →   AUC ≈ 0,96  ·  Acc %89,3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  En yüksek doğruluk ve tutarlılık (±0,033)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Setup-1 + RF   →   AUC ≈ 0,94  ·  Acc %84,9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  131 biyolojik gen, 3000 gene yakın performans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Genel gözlem: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  ER+ sınıfında daha az hata (Recall yüksek)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  DGE + WGCNA genleri bilgi taşıyor</a:t>
            </a:r>
          </a:p>
          <a:p>
            <a:pPr>
              <a:spcBef>
                <a:spcPts val="500"/>
              </a:spcBef>
              <a:defRPr sz="1400">
                <a:solidFill>
                  <a:srgbClr val="1C2833"/>
                </a:solidFill>
              </a:defRPr>
            </a:pPr>
            <a:r>
              <a:t>  İstatistiksel seçim de güçlü tahmin veriyor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Rectangle 2"/>
          <p:cNvSpPr/>
          <p:nvPr/>
        </p:nvSpPr>
        <p:spPr>
          <a:xfrm>
            <a:off x="-1" y="0"/>
            <a:ext cx="12188954" cy="1005839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TextBox 3"/>
          <p:cNvSpPr txBox="1"/>
          <p:nvPr/>
        </p:nvSpPr>
        <p:spPr>
          <a:xfrm>
            <a:off x="411479" y="91440"/>
            <a:ext cx="113385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Sonuçlar ve Tartışma</a:t>
            </a:r>
          </a:p>
        </p:txBody>
      </p:sp>
      <p:sp>
        <p:nvSpPr>
          <p:cNvPr id="541" name="Rectangle 4"/>
          <p:cNvSpPr/>
          <p:nvPr/>
        </p:nvSpPr>
        <p:spPr>
          <a:xfrm>
            <a:off x="-1" y="6601968"/>
            <a:ext cx="12188954" cy="256033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5"/>
          <p:cNvSpPr txBox="1"/>
          <p:nvPr/>
        </p:nvSpPr>
        <p:spPr>
          <a:xfrm>
            <a:off x="411479" y="6601968"/>
            <a:ext cx="90525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88AACC"/>
                </a:solidFill>
              </a:defRPr>
            </a:lvl1pPr>
          </a:lstStyle>
          <a:p>
            <a:pPr/>
            <a:r>
              <a:t>BLM3810 Biyoenformatiğe Giriş  ·  GSE1456</a:t>
            </a:r>
          </a:p>
        </p:txBody>
      </p:sp>
      <p:sp>
        <p:nvSpPr>
          <p:cNvPr id="543" name="TextBox 6"/>
          <p:cNvSpPr txBox="1"/>
          <p:nvPr/>
        </p:nvSpPr>
        <p:spPr>
          <a:xfrm>
            <a:off x="11750039" y="6601968"/>
            <a:ext cx="365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000">
                <a:solidFill>
                  <a:srgbClr val="88AACC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44" name="Rectangle 7"/>
          <p:cNvSpPr/>
          <p:nvPr/>
        </p:nvSpPr>
        <p:spPr>
          <a:xfrm>
            <a:off x="274319" y="1078991"/>
            <a:ext cx="5760722" cy="2423162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Rectangle 8"/>
          <p:cNvSpPr/>
          <p:nvPr/>
        </p:nvSpPr>
        <p:spPr>
          <a:xfrm>
            <a:off x="274320" y="1078991"/>
            <a:ext cx="64009" cy="2423162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Rectangle 9"/>
          <p:cNvSpPr/>
          <p:nvPr/>
        </p:nvSpPr>
        <p:spPr>
          <a:xfrm>
            <a:off x="274319" y="1078991"/>
            <a:ext cx="5760722" cy="365761"/>
          </a:xfrm>
          <a:prstGeom prst="rect">
            <a:avLst/>
          </a:prstGeom>
          <a:solidFill>
            <a:srgbClr val="2A6EB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TextBox 10"/>
          <p:cNvSpPr txBox="1"/>
          <p:nvPr/>
        </p:nvSpPr>
        <p:spPr>
          <a:xfrm>
            <a:off x="457200" y="1078991"/>
            <a:ext cx="5394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DGE</a:t>
            </a:r>
          </a:p>
        </p:txBody>
      </p:sp>
      <p:sp>
        <p:nvSpPr>
          <p:cNvPr id="548" name="TextBox 11"/>
          <p:cNvSpPr txBox="1"/>
          <p:nvPr/>
        </p:nvSpPr>
        <p:spPr>
          <a:xfrm>
            <a:off x="502919" y="1517903"/>
            <a:ext cx="5394962" cy="842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46 anlamlı gen  (adj.p &lt; 0,05  ·  |logFC| &gt; 1)</a:t>
            </a:r>
          </a:p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ESR1 ER+'de en yüksek → biyoloji ile uyumlu</a:t>
            </a:r>
          </a:p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S100A8/S100A9 ER−'de yüksek → bazal program</a:t>
            </a:r>
          </a:p>
        </p:txBody>
      </p:sp>
      <p:sp>
        <p:nvSpPr>
          <p:cNvPr id="549" name="Rectangle 12"/>
          <p:cNvSpPr/>
          <p:nvPr/>
        </p:nvSpPr>
        <p:spPr>
          <a:xfrm>
            <a:off x="6263640" y="1078991"/>
            <a:ext cx="5760721" cy="2423162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0" name="Rectangle 13"/>
          <p:cNvSpPr/>
          <p:nvPr/>
        </p:nvSpPr>
        <p:spPr>
          <a:xfrm>
            <a:off x="6263640" y="1078991"/>
            <a:ext cx="64009" cy="2423162"/>
          </a:xfrm>
          <a:prstGeom prst="rect">
            <a:avLst/>
          </a:prstGeom>
          <a:solidFill>
            <a:srgbClr val="BB222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1" name="Rectangle 14"/>
          <p:cNvSpPr/>
          <p:nvPr/>
        </p:nvSpPr>
        <p:spPr>
          <a:xfrm>
            <a:off x="6263640" y="1078991"/>
            <a:ext cx="5760721" cy="365761"/>
          </a:xfrm>
          <a:prstGeom prst="rect">
            <a:avLst/>
          </a:prstGeom>
          <a:solidFill>
            <a:srgbClr val="BB222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TextBox 15"/>
          <p:cNvSpPr txBox="1"/>
          <p:nvPr/>
        </p:nvSpPr>
        <p:spPr>
          <a:xfrm>
            <a:off x="6446519" y="1078991"/>
            <a:ext cx="5394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Survival &amp; Cox</a:t>
            </a:r>
          </a:p>
        </p:txBody>
      </p:sp>
      <p:sp>
        <p:nvSpPr>
          <p:cNvPr id="553" name="TextBox 16"/>
          <p:cNvSpPr txBox="1"/>
          <p:nvPr/>
        </p:nvSpPr>
        <p:spPr>
          <a:xfrm>
            <a:off x="6492240" y="1517903"/>
            <a:ext cx="5394961" cy="842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S100A9: tek istatistiksel anlamlı prognostik gen</a:t>
            </a:r>
          </a:p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HR = 2,33  →  yüksek ifade, 2,3× relaps riski</a:t>
            </a:r>
          </a:p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Multivariable Cox: gen + ER durumu + grade</a:t>
            </a:r>
          </a:p>
        </p:txBody>
      </p:sp>
      <p:sp>
        <p:nvSpPr>
          <p:cNvPr id="554" name="Rectangle 17"/>
          <p:cNvSpPr/>
          <p:nvPr/>
        </p:nvSpPr>
        <p:spPr>
          <a:xfrm>
            <a:off x="274319" y="3657599"/>
            <a:ext cx="5760722" cy="2423162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5" name="Rectangle 18"/>
          <p:cNvSpPr/>
          <p:nvPr/>
        </p:nvSpPr>
        <p:spPr>
          <a:xfrm>
            <a:off x="274320" y="3657599"/>
            <a:ext cx="64009" cy="2423162"/>
          </a:xfrm>
          <a:prstGeom prst="rect">
            <a:avLst/>
          </a:prstGeom>
          <a:solidFill>
            <a:srgbClr val="5A2D8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6" name="Rectangle 19"/>
          <p:cNvSpPr/>
          <p:nvPr/>
        </p:nvSpPr>
        <p:spPr>
          <a:xfrm>
            <a:off x="274319" y="3657599"/>
            <a:ext cx="5760722" cy="365762"/>
          </a:xfrm>
          <a:prstGeom prst="rect">
            <a:avLst/>
          </a:prstGeom>
          <a:solidFill>
            <a:srgbClr val="5A2D8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TextBox 20"/>
          <p:cNvSpPr txBox="1"/>
          <p:nvPr/>
        </p:nvSpPr>
        <p:spPr>
          <a:xfrm>
            <a:off x="457200" y="3657599"/>
            <a:ext cx="5394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WGCNA &amp; GO</a:t>
            </a:r>
          </a:p>
        </p:txBody>
      </p:sp>
      <p:sp>
        <p:nvSpPr>
          <p:cNvPr id="558" name="TextBox 21"/>
          <p:cNvSpPr txBox="1"/>
          <p:nvPr/>
        </p:nvSpPr>
        <p:spPr>
          <a:xfrm>
            <a:off x="502919" y="4096511"/>
            <a:ext cx="5394962" cy="842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17 modül  —  red modülü ER ile en güçlü ilişkili</a:t>
            </a:r>
          </a:p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Modül başına 5 hub gen (kME skoru)</a:t>
            </a:r>
          </a:p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GO: melanin/nöral farklılaşma → luminal ER+</a:t>
            </a:r>
          </a:p>
        </p:txBody>
      </p:sp>
      <p:sp>
        <p:nvSpPr>
          <p:cNvPr id="559" name="Rectangle 22"/>
          <p:cNvSpPr/>
          <p:nvPr/>
        </p:nvSpPr>
        <p:spPr>
          <a:xfrm>
            <a:off x="6263640" y="3657599"/>
            <a:ext cx="5760721" cy="2423162"/>
          </a:xfrm>
          <a:prstGeom prst="rect">
            <a:avLst/>
          </a:prstGeom>
          <a:solidFill>
            <a:srgbClr val="F6F8FB"/>
          </a:solidFill>
          <a:ln w="635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0" name="Rectangle 23"/>
          <p:cNvSpPr/>
          <p:nvPr/>
        </p:nvSpPr>
        <p:spPr>
          <a:xfrm>
            <a:off x="6263640" y="3657599"/>
            <a:ext cx="64009" cy="2423162"/>
          </a:xfrm>
          <a:prstGeom prst="rect">
            <a:avLst/>
          </a:prstGeom>
          <a:solidFill>
            <a:srgbClr val="1A7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" name="Rectangle 24"/>
          <p:cNvSpPr/>
          <p:nvPr/>
        </p:nvSpPr>
        <p:spPr>
          <a:xfrm>
            <a:off x="6263640" y="3657599"/>
            <a:ext cx="5760721" cy="365762"/>
          </a:xfrm>
          <a:prstGeom prst="rect">
            <a:avLst/>
          </a:prstGeom>
          <a:solidFill>
            <a:srgbClr val="1A7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" name="TextBox 25"/>
          <p:cNvSpPr txBox="1"/>
          <p:nvPr/>
        </p:nvSpPr>
        <p:spPr>
          <a:xfrm>
            <a:off x="6446519" y="3657599"/>
            <a:ext cx="53949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Makine Öğrenmesi</a:t>
            </a:r>
          </a:p>
        </p:txBody>
      </p:sp>
      <p:sp>
        <p:nvSpPr>
          <p:cNvPr id="563" name="TextBox 26"/>
          <p:cNvSpPr txBox="1"/>
          <p:nvPr/>
        </p:nvSpPr>
        <p:spPr>
          <a:xfrm>
            <a:off x="6492240" y="4096511"/>
            <a:ext cx="5394961" cy="842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Setup-2 + LR: %89,3  —  en yüksek doğruluk</a:t>
            </a:r>
          </a:p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Setup-1 + RF: %84,9  —  131 biyolojik gen</a:t>
            </a:r>
          </a:p>
          <a:p>
            <a:pPr>
              <a:spcBef>
                <a:spcPts val="700"/>
              </a:spcBef>
              <a:defRPr sz="1300">
                <a:solidFill>
                  <a:srgbClr val="1C2833"/>
                </a:solidFill>
              </a:defRPr>
            </a:pPr>
            <a:r>
              <a:t>→  Biyolojik genler ≈ 3000 gene yakın performans</a:t>
            </a:r>
          </a:p>
        </p:txBody>
      </p:sp>
      <p:sp>
        <p:nvSpPr>
          <p:cNvPr id="564" name="Rectangle 27"/>
          <p:cNvSpPr/>
          <p:nvPr/>
        </p:nvSpPr>
        <p:spPr>
          <a:xfrm>
            <a:off x="274320" y="6419088"/>
            <a:ext cx="11658601" cy="201169"/>
          </a:xfrm>
          <a:prstGeom prst="rect">
            <a:avLst/>
          </a:prstGeom>
          <a:solidFill>
            <a:srgbClr val="F6F8FB"/>
          </a:solidFill>
          <a:ln w="5080">
            <a:solidFill>
              <a:srgbClr val="CCD8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angle 1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1A3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7" name="Rectangle 2"/>
          <p:cNvSpPr/>
          <p:nvPr/>
        </p:nvSpPr>
        <p:spPr>
          <a:xfrm>
            <a:off x="-1" y="-1"/>
            <a:ext cx="12188954" cy="73154"/>
          </a:xfrm>
          <a:prstGeom prst="rect">
            <a:avLst/>
          </a:prstGeom>
          <a:solidFill>
            <a:srgbClr val="008BA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8" name="Rectangle 3"/>
          <p:cNvSpPr/>
          <p:nvPr/>
        </p:nvSpPr>
        <p:spPr>
          <a:xfrm>
            <a:off x="-1" y="6784847"/>
            <a:ext cx="12188954" cy="73153"/>
          </a:xfrm>
          <a:prstGeom prst="rect">
            <a:avLst/>
          </a:prstGeom>
          <a:solidFill>
            <a:srgbClr val="008BA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9" name="TextBox 4"/>
          <p:cNvSpPr txBox="1"/>
          <p:nvPr/>
        </p:nvSpPr>
        <p:spPr>
          <a:xfrm>
            <a:off x="594359" y="2011679"/>
            <a:ext cx="10972802" cy="745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5200">
                <a:solidFill>
                  <a:srgbClr val="FFFFFF"/>
                </a:solidFill>
              </a:defRPr>
            </a:lvl1pPr>
          </a:lstStyle>
          <a:p>
            <a:pPr/>
            <a:r>
              <a:t>Teşekkürler</a:t>
            </a:r>
          </a:p>
        </p:txBody>
      </p:sp>
      <p:sp>
        <p:nvSpPr>
          <p:cNvPr id="570" name="Rectangle 5"/>
          <p:cNvSpPr/>
          <p:nvPr/>
        </p:nvSpPr>
        <p:spPr>
          <a:xfrm>
            <a:off x="3200399" y="3108960"/>
            <a:ext cx="5760722" cy="19051"/>
          </a:xfrm>
          <a:prstGeom prst="rect">
            <a:avLst/>
          </a:prstGeom>
          <a:solidFill>
            <a:srgbClr val="008BA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1" name="TextBox 6"/>
          <p:cNvSpPr txBox="1"/>
          <p:nvPr/>
        </p:nvSpPr>
        <p:spPr>
          <a:xfrm>
            <a:off x="594359" y="3246120"/>
            <a:ext cx="1097280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>
                <a:solidFill>
                  <a:srgbClr val="88BED8"/>
                </a:solidFill>
              </a:defRPr>
            </a:lvl1pPr>
          </a:lstStyle>
          <a:p>
            <a:pPr/>
            <a:r>
              <a:t>Sorularınız için hazırız.</a:t>
            </a:r>
          </a:p>
        </p:txBody>
      </p:sp>
      <p:sp>
        <p:nvSpPr>
          <p:cNvPr id="572" name="TextBox 7"/>
          <p:cNvSpPr txBox="1"/>
          <p:nvPr/>
        </p:nvSpPr>
        <p:spPr>
          <a:xfrm>
            <a:off x="594359" y="4023359"/>
            <a:ext cx="1097280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Ata Baş — 23011091          Yusuf Emir Altınkaynak — 22011057</a:t>
            </a:r>
          </a:p>
        </p:txBody>
      </p:sp>
      <p:sp>
        <p:nvSpPr>
          <p:cNvPr id="573" name="TextBox 8"/>
          <p:cNvSpPr txBox="1"/>
          <p:nvPr/>
        </p:nvSpPr>
        <p:spPr>
          <a:xfrm>
            <a:off x="594359" y="4767579"/>
            <a:ext cx="10972802" cy="1051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i="1" sz="1100">
                <a:solidFill>
                  <a:srgbClr val="6090AA"/>
                </a:solidFill>
              </a:defRPr>
            </a:pPr>
            <a:r>
              <a:t>Kaynak:  </a:t>
            </a:r>
          </a:p>
          <a:p>
            <a:pPr algn="ctr">
              <a:defRPr i="1" sz="1100">
                <a:solidFill>
                  <a:srgbClr val="6090AA"/>
                </a:solidFill>
              </a:defRPr>
            </a:pPr>
            <a:r>
              <a:t>Pawitan et al. (2005) Nature  ·  </a:t>
            </a:r>
          </a:p>
          <a:p>
            <a:pPr algn="ctr">
              <a:defRPr i="1" sz="1100">
                <a:solidFill>
                  <a:srgbClr val="6090AA"/>
                </a:solidFill>
              </a:defRPr>
            </a:pPr>
            <a:r>
              <a:t>Ritchie et al. (2015) NAR  ·  </a:t>
            </a:r>
          </a:p>
          <a:p>
            <a:pPr algn="ctr">
              <a:defRPr i="1" sz="1100">
                <a:solidFill>
                  <a:srgbClr val="6090AA"/>
                </a:solidFill>
              </a:defRPr>
            </a:pPr>
            <a:r>
              <a:t>Langfelder &amp; Horvath (2008) BMC Bioinf.  ·  </a:t>
            </a:r>
          </a:p>
          <a:p>
            <a:pPr algn="ctr">
              <a:defRPr i="1" sz="1100">
                <a:solidFill>
                  <a:srgbClr val="6090AA"/>
                </a:solidFill>
              </a:defRPr>
            </a:pPr>
            <a:r>
              <a:t>Yu et al. (2012) OMICS  · </a:t>
            </a:r>
          </a:p>
          <a:p>
            <a:pPr algn="ctr">
              <a:defRPr i="1" sz="1100">
                <a:solidFill>
                  <a:srgbClr val="6090AA"/>
                </a:solidFill>
              </a:defRPr>
            </a:pPr>
            <a:r>
              <a:t> NCBI GEO GSE1456</a:t>
            </a:r>
          </a:p>
        </p:txBody>
      </p:sp>
      <p:sp>
        <p:nvSpPr>
          <p:cNvPr id="574" name="TextBox 9"/>
          <p:cNvSpPr txBox="1"/>
          <p:nvPr/>
        </p:nvSpPr>
        <p:spPr>
          <a:xfrm>
            <a:off x="594359" y="5257799"/>
            <a:ext cx="10972802" cy="1010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5080A0"/>
                </a:solidFill>
              </a:defRPr>
            </a:pPr>
          </a:p>
          <a:p>
            <a:pPr algn="ctr">
              <a:defRPr sz="1200">
                <a:solidFill>
                  <a:srgbClr val="5080A0"/>
                </a:solidFill>
              </a:defRPr>
            </a:pPr>
          </a:p>
          <a:p>
            <a:pPr algn="ctr">
              <a:defRPr sz="1200">
                <a:solidFill>
                  <a:srgbClr val="5080A0"/>
                </a:solidFill>
              </a:defRPr>
            </a:pPr>
          </a:p>
          <a:p>
            <a:pPr algn="ctr">
              <a:defRPr sz="1200">
                <a:solidFill>
                  <a:srgbClr val="5080A0"/>
                </a:solidFill>
              </a:defRPr>
            </a:pPr>
          </a:p>
          <a:p>
            <a:pPr algn="ctr">
              <a:defRPr sz="1200">
                <a:solidFill>
                  <a:srgbClr val="5080A0"/>
                </a:solidFill>
              </a:defRPr>
            </a:pPr>
            <a:r>
              <a:t>BLM3810 Biyoenformatiğe Giriş  ·  Yıldız Teknik Üniversitesi  ·  Mayıs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